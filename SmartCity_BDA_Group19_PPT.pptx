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1" d="100"/>
          <a:sy n="101" d="100"/>
        </p:scale>
        <p:origin x="693"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560922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342"/>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2C39A"/>
          </a:solidFill>
          <a:ln/>
        </p:spPr>
      </p:sp>
      <p:sp>
        <p:nvSpPr>
          <p:cNvPr id="3" name="Shape 1"/>
          <p:cNvSpPr/>
          <p:nvPr/>
        </p:nvSpPr>
        <p:spPr>
          <a:xfrm>
            <a:off x="8229600" y="228600"/>
            <a:ext cx="109728" cy="109728"/>
          </a:xfrm>
          <a:prstGeom prst="ellipse">
            <a:avLst/>
          </a:prstGeom>
          <a:solidFill>
            <a:srgbClr val="02C39A">
              <a:alpha val="50000"/>
            </a:srgbClr>
          </a:solidFill>
          <a:ln w="12700">
            <a:solidFill>
              <a:srgbClr val="02C39A">
                <a:alpha val="50000"/>
              </a:srgbClr>
            </a:solidFill>
            <a:prstDash val="solid"/>
          </a:ln>
        </p:spPr>
      </p:sp>
      <p:sp>
        <p:nvSpPr>
          <p:cNvPr id="4" name="Shape 2"/>
          <p:cNvSpPr/>
          <p:nvPr/>
        </p:nvSpPr>
        <p:spPr>
          <a:xfrm>
            <a:off x="8430768" y="228600"/>
            <a:ext cx="109728" cy="109728"/>
          </a:xfrm>
          <a:prstGeom prst="ellipse">
            <a:avLst/>
          </a:prstGeom>
          <a:solidFill>
            <a:srgbClr val="02C39A">
              <a:alpha val="50000"/>
            </a:srgbClr>
          </a:solidFill>
          <a:ln w="12700">
            <a:solidFill>
              <a:srgbClr val="02C39A">
                <a:alpha val="50000"/>
              </a:srgbClr>
            </a:solidFill>
            <a:prstDash val="solid"/>
          </a:ln>
        </p:spPr>
      </p:sp>
      <p:sp>
        <p:nvSpPr>
          <p:cNvPr id="5" name="Shape 3"/>
          <p:cNvSpPr/>
          <p:nvPr/>
        </p:nvSpPr>
        <p:spPr>
          <a:xfrm>
            <a:off x="8631936" y="228600"/>
            <a:ext cx="109728" cy="109728"/>
          </a:xfrm>
          <a:prstGeom prst="ellipse">
            <a:avLst/>
          </a:prstGeom>
          <a:solidFill>
            <a:srgbClr val="02C39A">
              <a:alpha val="50000"/>
            </a:srgbClr>
          </a:solidFill>
          <a:ln w="12700">
            <a:solidFill>
              <a:srgbClr val="02C39A">
                <a:alpha val="50000"/>
              </a:srgbClr>
            </a:solidFill>
            <a:prstDash val="solid"/>
          </a:ln>
        </p:spPr>
      </p:sp>
      <p:sp>
        <p:nvSpPr>
          <p:cNvPr id="6" name="Shape 4"/>
          <p:cNvSpPr/>
          <p:nvPr/>
        </p:nvSpPr>
        <p:spPr>
          <a:xfrm>
            <a:off x="8833104" y="228600"/>
            <a:ext cx="109728" cy="109728"/>
          </a:xfrm>
          <a:prstGeom prst="ellipse">
            <a:avLst/>
          </a:prstGeom>
          <a:solidFill>
            <a:srgbClr val="02C39A">
              <a:alpha val="50000"/>
            </a:srgbClr>
          </a:solidFill>
          <a:ln w="12700">
            <a:solidFill>
              <a:srgbClr val="02C39A">
                <a:alpha val="50000"/>
              </a:srgbClr>
            </a:solidFill>
            <a:prstDash val="solid"/>
          </a:ln>
        </p:spPr>
      </p:sp>
      <p:sp>
        <p:nvSpPr>
          <p:cNvPr id="7" name="Shape 5"/>
          <p:cNvSpPr/>
          <p:nvPr/>
        </p:nvSpPr>
        <p:spPr>
          <a:xfrm>
            <a:off x="457200" y="1051560"/>
            <a:ext cx="3108960" cy="347472"/>
          </a:xfrm>
          <a:prstGeom prst="rect">
            <a:avLst/>
          </a:prstGeom>
          <a:solidFill>
            <a:srgbClr val="02C39A"/>
          </a:solidFill>
          <a:ln w="12700">
            <a:solidFill>
              <a:srgbClr val="02C39A"/>
            </a:solidFill>
            <a:prstDash val="solid"/>
          </a:ln>
        </p:spPr>
      </p:sp>
      <p:sp>
        <p:nvSpPr>
          <p:cNvPr id="8" name="Text 6"/>
          <p:cNvSpPr/>
          <p:nvPr/>
        </p:nvSpPr>
        <p:spPr>
          <a:xfrm>
            <a:off x="457200" y="1051560"/>
            <a:ext cx="3108960" cy="347472"/>
          </a:xfrm>
          <a:prstGeom prst="rect">
            <a:avLst/>
          </a:prstGeom>
          <a:noFill/>
          <a:ln/>
        </p:spPr>
        <p:txBody>
          <a:bodyPr wrap="square" lIns="0" tIns="0" rIns="0" bIns="0" rtlCol="0" anchor="ctr"/>
          <a:lstStyle/>
          <a:p>
            <a:pPr marL="0" indent="0" algn="ctr">
              <a:buNone/>
            </a:pPr>
            <a:r>
              <a:rPr lang="en-US" sz="900" b="1" dirty="0">
                <a:solidFill>
                  <a:srgbClr val="0A2342"/>
                </a:solidFill>
              </a:rPr>
              <a:t>BIG DATA ANALYTICS  |  GROUP 19</a:t>
            </a:r>
            <a:endParaRPr lang="en-US" sz="900" dirty="0"/>
          </a:p>
        </p:txBody>
      </p:sp>
      <p:sp>
        <p:nvSpPr>
          <p:cNvPr id="9" name="Text 7"/>
          <p:cNvSpPr/>
          <p:nvPr/>
        </p:nvSpPr>
        <p:spPr>
          <a:xfrm>
            <a:off x="457200" y="1554480"/>
            <a:ext cx="8229600" cy="914400"/>
          </a:xfrm>
          <a:prstGeom prst="rect">
            <a:avLst/>
          </a:prstGeom>
          <a:noFill/>
          <a:ln/>
        </p:spPr>
        <p:txBody>
          <a:bodyPr wrap="square" lIns="0" tIns="0" rIns="0" bIns="0" rtlCol="0" anchor="ctr"/>
          <a:lstStyle/>
          <a:p>
            <a:pPr marL="0" indent="0" algn="l">
              <a:buNone/>
            </a:pPr>
            <a:r>
              <a:rPr lang="en-US" sz="5200" b="1" dirty="0">
                <a:solidFill>
                  <a:srgbClr val="FFFFFF"/>
                </a:solidFill>
                <a:latin typeface="Arial Black" pitchFamily="34" charset="0"/>
                <a:ea typeface="Arial Black" pitchFamily="34" charset="-122"/>
                <a:cs typeface="Arial Black" pitchFamily="34" charset="-120"/>
              </a:rPr>
              <a:t>SMART CITY</a:t>
            </a:r>
            <a:endParaRPr lang="en-US" sz="5200" dirty="0"/>
          </a:p>
        </p:txBody>
      </p:sp>
      <p:sp>
        <p:nvSpPr>
          <p:cNvPr id="10" name="Text 8"/>
          <p:cNvSpPr/>
          <p:nvPr/>
        </p:nvSpPr>
        <p:spPr>
          <a:xfrm>
            <a:off x="457200" y="2377440"/>
            <a:ext cx="8229600" cy="914400"/>
          </a:xfrm>
          <a:prstGeom prst="rect">
            <a:avLst/>
          </a:prstGeom>
          <a:noFill/>
          <a:ln/>
        </p:spPr>
        <p:txBody>
          <a:bodyPr wrap="square" lIns="0" tIns="0" rIns="0" bIns="0" rtlCol="0" anchor="ctr"/>
          <a:lstStyle/>
          <a:p>
            <a:pPr marL="0" indent="0" algn="l">
              <a:buNone/>
            </a:pPr>
            <a:r>
              <a:rPr lang="en-US" sz="5200" b="1" dirty="0">
                <a:solidFill>
                  <a:srgbClr val="02C39A"/>
                </a:solidFill>
                <a:latin typeface="Arial Black" pitchFamily="34" charset="0"/>
                <a:ea typeface="Arial Black" pitchFamily="34" charset="-122"/>
                <a:cs typeface="Arial Black" pitchFamily="34" charset="-120"/>
              </a:rPr>
              <a:t>DATA ANALYTICS</a:t>
            </a:r>
            <a:endParaRPr lang="en-US" sz="5200" dirty="0"/>
          </a:p>
        </p:txBody>
      </p:sp>
      <p:sp>
        <p:nvSpPr>
          <p:cNvPr id="11" name="Text 9"/>
          <p:cNvSpPr/>
          <p:nvPr/>
        </p:nvSpPr>
        <p:spPr>
          <a:xfrm>
            <a:off x="457200" y="3337560"/>
            <a:ext cx="6400800" cy="411480"/>
          </a:xfrm>
          <a:prstGeom prst="rect">
            <a:avLst/>
          </a:prstGeom>
          <a:noFill/>
          <a:ln/>
        </p:spPr>
        <p:txBody>
          <a:bodyPr wrap="square" lIns="0" tIns="0" rIns="0" bIns="0" rtlCol="0" anchor="ctr"/>
          <a:lstStyle/>
          <a:p>
            <a:pPr marL="0" indent="0" algn="l">
              <a:buNone/>
            </a:pPr>
            <a:r>
              <a:rPr lang="en-US" sz="1800" i="1" dirty="0">
                <a:solidFill>
                  <a:srgbClr val="00B0F0"/>
                </a:solidFill>
              </a:rPr>
              <a:t>Waste • Traffic • Energy</a:t>
            </a:r>
            <a:endParaRPr lang="en-US" sz="1800" dirty="0">
              <a:solidFill>
                <a:srgbClr val="00B0F0"/>
              </a:solidFill>
            </a:endParaRPr>
          </a:p>
        </p:txBody>
      </p:sp>
      <p:sp>
        <p:nvSpPr>
          <p:cNvPr id="12" name="Shape 10"/>
          <p:cNvSpPr/>
          <p:nvPr/>
        </p:nvSpPr>
        <p:spPr>
          <a:xfrm>
            <a:off x="0" y="4617720"/>
            <a:ext cx="9144000" cy="525780"/>
          </a:xfrm>
          <a:prstGeom prst="rect">
            <a:avLst/>
          </a:prstGeom>
          <a:solidFill>
            <a:srgbClr val="065A82"/>
          </a:solidFill>
          <a:ln/>
        </p:spPr>
      </p:sp>
      <p:sp>
        <p:nvSpPr>
          <p:cNvPr id="13" name="Text 11"/>
          <p:cNvSpPr/>
          <p:nvPr/>
        </p:nvSpPr>
        <p:spPr>
          <a:xfrm>
            <a:off x="274320" y="4617720"/>
            <a:ext cx="8595360" cy="525780"/>
          </a:xfrm>
          <a:prstGeom prst="rect">
            <a:avLst/>
          </a:prstGeom>
          <a:noFill/>
          <a:ln/>
        </p:spPr>
        <p:txBody>
          <a:bodyPr wrap="square" lIns="0" tIns="0" rIns="0" bIns="0" rtlCol="0" anchor="ctr"/>
          <a:lstStyle/>
          <a:p>
            <a:pPr marL="0" indent="0" algn="ctr">
              <a:buNone/>
            </a:pPr>
            <a:r>
              <a:rPr lang="en-US" sz="1100" dirty="0">
                <a:solidFill>
                  <a:srgbClr val="E8F4F8"/>
                </a:solidFill>
              </a:rPr>
              <a:t>Roll Nos: 55, 56, 57   |   Big Data Analytics Case Study   |   Smart Tech Domain</a:t>
            </a:r>
            <a:endParaRPr lang="en-US" sz="1100" dirty="0"/>
          </a:p>
        </p:txBody>
      </p:sp>
      <p:sp>
        <p:nvSpPr>
          <p:cNvPr id="16" name="Text 9">
            <a:extLst>
              <a:ext uri="{FF2B5EF4-FFF2-40B4-BE49-F238E27FC236}">
                <a16:creationId xmlns:a16="http://schemas.microsoft.com/office/drawing/2014/main" id="{2A1BF8ED-32AF-08E2-FC3F-7AD116B59522}"/>
              </a:ext>
            </a:extLst>
          </p:cNvPr>
          <p:cNvSpPr/>
          <p:nvPr/>
        </p:nvSpPr>
        <p:spPr>
          <a:xfrm>
            <a:off x="5943600" y="3685032"/>
            <a:ext cx="6400800" cy="411480"/>
          </a:xfrm>
          <a:prstGeom prst="rect">
            <a:avLst/>
          </a:prstGeom>
          <a:noFill/>
          <a:ln/>
        </p:spPr>
        <p:txBody>
          <a:bodyPr wrap="square" lIns="0" tIns="0" rIns="0" bIns="0" rtlCol="0" anchor="ctr"/>
          <a:lstStyle/>
          <a:p>
            <a:pPr marL="0" indent="0" algn="l">
              <a:buNone/>
            </a:pPr>
            <a:r>
              <a:rPr lang="en-US" sz="1800" b="1" i="1" dirty="0">
                <a:solidFill>
                  <a:schemeClr val="bg1"/>
                </a:solidFill>
              </a:rPr>
              <a:t>Group Members:</a:t>
            </a:r>
          </a:p>
          <a:p>
            <a:pPr marL="0" indent="0" algn="l">
              <a:buNone/>
            </a:pPr>
            <a:r>
              <a:rPr lang="en-US" i="1" dirty="0">
                <a:solidFill>
                  <a:schemeClr val="bg1"/>
                </a:solidFill>
              </a:rPr>
              <a:t>Hea Kapai             (A4-55)</a:t>
            </a:r>
          </a:p>
          <a:p>
            <a:pPr marL="0" indent="0" algn="l">
              <a:buNone/>
            </a:pPr>
            <a:r>
              <a:rPr lang="en-US" sz="1800" i="1" dirty="0">
                <a:solidFill>
                  <a:schemeClr val="bg1"/>
                </a:solidFill>
              </a:rPr>
              <a:t>Ishika </a:t>
            </a:r>
            <a:r>
              <a:rPr lang="en-US" i="1" dirty="0" err="1">
                <a:solidFill>
                  <a:schemeClr val="bg1"/>
                </a:solidFill>
              </a:rPr>
              <a:t>M</a:t>
            </a:r>
            <a:r>
              <a:rPr lang="en-US" sz="1800" i="1" dirty="0" err="1">
                <a:solidFill>
                  <a:schemeClr val="bg1"/>
                </a:solidFill>
              </a:rPr>
              <a:t>okati</a:t>
            </a:r>
            <a:r>
              <a:rPr lang="en-US" sz="1800" i="1" dirty="0">
                <a:solidFill>
                  <a:schemeClr val="bg1"/>
                </a:solidFill>
              </a:rPr>
              <a:t>        (A4-56)</a:t>
            </a:r>
          </a:p>
          <a:p>
            <a:pPr marL="0" indent="0" algn="l">
              <a:buNone/>
            </a:pPr>
            <a:r>
              <a:rPr lang="en-US" i="1" dirty="0">
                <a:solidFill>
                  <a:schemeClr val="bg1"/>
                </a:solidFill>
              </a:rPr>
              <a:t>Ishwari Moroney  (A4-57)</a:t>
            </a:r>
            <a:endParaRPr lang="en-US" sz="18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2342"/>
          </a:solidFill>
          <a:ln/>
        </p:spPr>
      </p:sp>
      <p:sp>
        <p:nvSpPr>
          <p:cNvPr id="3" name="Text 1"/>
          <p:cNvSpPr/>
          <p:nvPr/>
        </p:nvSpPr>
        <p:spPr>
          <a:xfrm>
            <a:off x="365760" y="0"/>
            <a:ext cx="8412480" cy="914400"/>
          </a:xfrm>
          <a:prstGeom prst="rect">
            <a:avLst/>
          </a:prstGeom>
          <a:noFill/>
          <a:ln/>
        </p:spPr>
        <p:txBody>
          <a:bodyPr wrap="square" lIns="0" tIns="0" rIns="0" bIns="0" rtlCol="0" anchor="ctr"/>
          <a:lstStyle/>
          <a:p>
            <a:pPr marL="0" indent="0" algn="l">
              <a:buNone/>
            </a:pPr>
            <a:r>
              <a:rPr lang="en-US" sz="2600" b="1" dirty="0">
                <a:solidFill>
                  <a:srgbClr val="FFFFFF"/>
                </a:solidFill>
              </a:rPr>
              <a:t>TABLE OF CONTENTS</a:t>
            </a:r>
            <a:endParaRPr lang="en-US" sz="2600" dirty="0"/>
          </a:p>
        </p:txBody>
      </p:sp>
      <p:sp>
        <p:nvSpPr>
          <p:cNvPr id="4" name="Shape 2"/>
          <p:cNvSpPr/>
          <p:nvPr/>
        </p:nvSpPr>
        <p:spPr>
          <a:xfrm>
            <a:off x="320040" y="1143000"/>
            <a:ext cx="4114800" cy="749808"/>
          </a:xfrm>
          <a:prstGeom prst="rect">
            <a:avLst/>
          </a:prstGeom>
          <a:solidFill>
            <a:srgbClr val="FFFFFF"/>
          </a:solidFill>
          <a:ln/>
          <a:effectLst>
            <a:outerShdw blurRad="101600" dist="38100" dir="8100000" algn="bl" rotWithShape="0">
              <a:srgbClr val="000000">
                <a:alpha val="12000"/>
              </a:srgbClr>
            </a:outerShdw>
          </a:effectLst>
        </p:spPr>
      </p:sp>
      <p:sp>
        <p:nvSpPr>
          <p:cNvPr id="5" name="Shape 3"/>
          <p:cNvSpPr/>
          <p:nvPr/>
        </p:nvSpPr>
        <p:spPr>
          <a:xfrm>
            <a:off x="320040" y="1143000"/>
            <a:ext cx="502920" cy="749808"/>
          </a:xfrm>
          <a:prstGeom prst="rect">
            <a:avLst/>
          </a:prstGeom>
          <a:solidFill>
            <a:srgbClr val="02C39A"/>
          </a:solidFill>
          <a:ln/>
        </p:spPr>
      </p:sp>
      <p:sp>
        <p:nvSpPr>
          <p:cNvPr id="6" name="Text 4"/>
          <p:cNvSpPr/>
          <p:nvPr/>
        </p:nvSpPr>
        <p:spPr>
          <a:xfrm>
            <a:off x="320040" y="1143000"/>
            <a:ext cx="502920" cy="749808"/>
          </a:xfrm>
          <a:prstGeom prst="rect">
            <a:avLst/>
          </a:prstGeom>
          <a:noFill/>
          <a:ln/>
        </p:spPr>
        <p:txBody>
          <a:bodyPr wrap="square" lIns="0" tIns="0" rIns="0" bIns="0" rtlCol="0" anchor="ctr"/>
          <a:lstStyle/>
          <a:p>
            <a:pPr marL="0" indent="0" algn="ctr">
              <a:buNone/>
            </a:pPr>
            <a:r>
              <a:rPr lang="en-US" sz="1300" b="1" dirty="0">
                <a:solidFill>
                  <a:srgbClr val="0A2342"/>
                </a:solidFill>
              </a:rPr>
              <a:t>01</a:t>
            </a:r>
            <a:endParaRPr lang="en-US" sz="1300" dirty="0"/>
          </a:p>
        </p:txBody>
      </p:sp>
      <p:sp>
        <p:nvSpPr>
          <p:cNvPr id="7" name="Text 5"/>
          <p:cNvSpPr/>
          <p:nvPr/>
        </p:nvSpPr>
        <p:spPr>
          <a:xfrm>
            <a:off x="914400" y="1188720"/>
            <a:ext cx="3383280" cy="320040"/>
          </a:xfrm>
          <a:prstGeom prst="rect">
            <a:avLst/>
          </a:prstGeom>
          <a:noFill/>
          <a:ln/>
        </p:spPr>
        <p:txBody>
          <a:bodyPr wrap="square" lIns="0" tIns="0" rIns="0" bIns="0" rtlCol="0" anchor="ctr"/>
          <a:lstStyle/>
          <a:p>
            <a:pPr marL="0" indent="0">
              <a:buNone/>
            </a:pPr>
            <a:r>
              <a:rPr lang="en-US" sz="1300" b="1" dirty="0">
                <a:solidFill>
                  <a:srgbClr val="0A2342"/>
                </a:solidFill>
              </a:rPr>
              <a:t>Introduction</a:t>
            </a:r>
            <a:endParaRPr lang="en-US" sz="1300" dirty="0"/>
          </a:p>
        </p:txBody>
      </p:sp>
      <p:sp>
        <p:nvSpPr>
          <p:cNvPr id="8" name="Text 6"/>
          <p:cNvSpPr/>
          <p:nvPr/>
        </p:nvSpPr>
        <p:spPr>
          <a:xfrm>
            <a:off x="914400" y="1508760"/>
            <a:ext cx="3383280" cy="320040"/>
          </a:xfrm>
          <a:prstGeom prst="rect">
            <a:avLst/>
          </a:prstGeom>
          <a:noFill/>
          <a:ln/>
        </p:spPr>
        <p:txBody>
          <a:bodyPr wrap="square" lIns="0" tIns="0" rIns="0" bIns="0" rtlCol="0" anchor="ctr"/>
          <a:lstStyle/>
          <a:p>
            <a:pPr marL="0" indent="0">
              <a:buNone/>
            </a:pPr>
            <a:r>
              <a:rPr lang="en-US" sz="950" dirty="0">
                <a:solidFill>
                  <a:srgbClr val="5E7A8A"/>
                </a:solidFill>
              </a:rPr>
              <a:t>What is a Smart City and why Big Data?</a:t>
            </a:r>
            <a:endParaRPr lang="en-US" sz="950" dirty="0"/>
          </a:p>
        </p:txBody>
      </p:sp>
      <p:sp>
        <p:nvSpPr>
          <p:cNvPr id="9" name="Shape 7"/>
          <p:cNvSpPr/>
          <p:nvPr/>
        </p:nvSpPr>
        <p:spPr>
          <a:xfrm>
            <a:off x="320040" y="2057400"/>
            <a:ext cx="4114800" cy="749808"/>
          </a:xfrm>
          <a:prstGeom prst="rect">
            <a:avLst/>
          </a:prstGeom>
          <a:solidFill>
            <a:srgbClr val="FFFFFF"/>
          </a:solidFill>
          <a:ln/>
          <a:effectLst>
            <a:outerShdw blurRad="101600" dist="38100" dir="8100000" algn="bl" rotWithShape="0">
              <a:srgbClr val="000000">
                <a:alpha val="12000"/>
              </a:srgbClr>
            </a:outerShdw>
          </a:effectLst>
        </p:spPr>
      </p:sp>
      <p:sp>
        <p:nvSpPr>
          <p:cNvPr id="10" name="Shape 8"/>
          <p:cNvSpPr/>
          <p:nvPr/>
        </p:nvSpPr>
        <p:spPr>
          <a:xfrm>
            <a:off x="320040" y="2057400"/>
            <a:ext cx="502920" cy="749808"/>
          </a:xfrm>
          <a:prstGeom prst="rect">
            <a:avLst/>
          </a:prstGeom>
          <a:solidFill>
            <a:srgbClr val="02C39A"/>
          </a:solidFill>
          <a:ln/>
        </p:spPr>
      </p:sp>
      <p:sp>
        <p:nvSpPr>
          <p:cNvPr id="11" name="Text 9"/>
          <p:cNvSpPr/>
          <p:nvPr/>
        </p:nvSpPr>
        <p:spPr>
          <a:xfrm>
            <a:off x="320040" y="2057400"/>
            <a:ext cx="502920" cy="749808"/>
          </a:xfrm>
          <a:prstGeom prst="rect">
            <a:avLst/>
          </a:prstGeom>
          <a:noFill/>
          <a:ln/>
        </p:spPr>
        <p:txBody>
          <a:bodyPr wrap="square" lIns="0" tIns="0" rIns="0" bIns="0" rtlCol="0" anchor="ctr"/>
          <a:lstStyle/>
          <a:p>
            <a:pPr marL="0" indent="0" algn="ctr">
              <a:buNone/>
            </a:pPr>
            <a:r>
              <a:rPr lang="en-US" sz="1300" b="1" dirty="0">
                <a:solidFill>
                  <a:srgbClr val="0A2342"/>
                </a:solidFill>
              </a:rPr>
              <a:t>02</a:t>
            </a:r>
            <a:endParaRPr lang="en-US" sz="1300" dirty="0"/>
          </a:p>
        </p:txBody>
      </p:sp>
      <p:sp>
        <p:nvSpPr>
          <p:cNvPr id="12" name="Text 10"/>
          <p:cNvSpPr/>
          <p:nvPr/>
        </p:nvSpPr>
        <p:spPr>
          <a:xfrm>
            <a:off x="914400" y="2103120"/>
            <a:ext cx="3383280" cy="320040"/>
          </a:xfrm>
          <a:prstGeom prst="rect">
            <a:avLst/>
          </a:prstGeom>
          <a:noFill/>
          <a:ln/>
        </p:spPr>
        <p:txBody>
          <a:bodyPr wrap="square" lIns="0" tIns="0" rIns="0" bIns="0" rtlCol="0" anchor="ctr"/>
          <a:lstStyle/>
          <a:p>
            <a:pPr marL="0" indent="0">
              <a:buNone/>
            </a:pPr>
            <a:r>
              <a:rPr lang="en-US" sz="1300" b="1" dirty="0">
                <a:solidFill>
                  <a:srgbClr val="0A2342"/>
                </a:solidFill>
              </a:rPr>
              <a:t>Problem Statement</a:t>
            </a:r>
            <a:endParaRPr lang="en-US" sz="1300" dirty="0"/>
          </a:p>
        </p:txBody>
      </p:sp>
      <p:sp>
        <p:nvSpPr>
          <p:cNvPr id="13" name="Text 11"/>
          <p:cNvSpPr/>
          <p:nvPr/>
        </p:nvSpPr>
        <p:spPr>
          <a:xfrm>
            <a:off x="914400" y="2423160"/>
            <a:ext cx="3383280" cy="320040"/>
          </a:xfrm>
          <a:prstGeom prst="rect">
            <a:avLst/>
          </a:prstGeom>
          <a:noFill/>
          <a:ln/>
        </p:spPr>
        <p:txBody>
          <a:bodyPr wrap="square" lIns="0" tIns="0" rIns="0" bIns="0" rtlCol="0" anchor="ctr"/>
          <a:lstStyle/>
          <a:p>
            <a:pPr marL="0" indent="0">
              <a:buNone/>
            </a:pPr>
            <a:r>
              <a:rPr lang="en-US" sz="950" dirty="0">
                <a:solidFill>
                  <a:srgbClr val="5E7A8A"/>
                </a:solidFill>
              </a:rPr>
              <a:t>Key urban challenges addressed</a:t>
            </a:r>
            <a:endParaRPr lang="en-US" sz="950" dirty="0"/>
          </a:p>
        </p:txBody>
      </p:sp>
      <p:sp>
        <p:nvSpPr>
          <p:cNvPr id="14" name="Shape 12"/>
          <p:cNvSpPr/>
          <p:nvPr/>
        </p:nvSpPr>
        <p:spPr>
          <a:xfrm>
            <a:off x="320040" y="2971800"/>
            <a:ext cx="4114800" cy="749808"/>
          </a:xfrm>
          <a:prstGeom prst="rect">
            <a:avLst/>
          </a:prstGeom>
          <a:solidFill>
            <a:srgbClr val="FFFFFF"/>
          </a:solidFill>
          <a:ln/>
          <a:effectLst>
            <a:outerShdw blurRad="101600" dist="38100" dir="8100000" algn="bl" rotWithShape="0">
              <a:srgbClr val="000000">
                <a:alpha val="12000"/>
              </a:srgbClr>
            </a:outerShdw>
          </a:effectLst>
        </p:spPr>
      </p:sp>
      <p:sp>
        <p:nvSpPr>
          <p:cNvPr id="15" name="Shape 13"/>
          <p:cNvSpPr/>
          <p:nvPr/>
        </p:nvSpPr>
        <p:spPr>
          <a:xfrm>
            <a:off x="320040" y="2971800"/>
            <a:ext cx="502920" cy="749808"/>
          </a:xfrm>
          <a:prstGeom prst="rect">
            <a:avLst/>
          </a:prstGeom>
          <a:solidFill>
            <a:srgbClr val="02C39A"/>
          </a:solidFill>
          <a:ln/>
        </p:spPr>
      </p:sp>
      <p:sp>
        <p:nvSpPr>
          <p:cNvPr id="16" name="Text 14"/>
          <p:cNvSpPr/>
          <p:nvPr/>
        </p:nvSpPr>
        <p:spPr>
          <a:xfrm>
            <a:off x="320040" y="2971800"/>
            <a:ext cx="502920" cy="749808"/>
          </a:xfrm>
          <a:prstGeom prst="rect">
            <a:avLst/>
          </a:prstGeom>
          <a:noFill/>
          <a:ln/>
        </p:spPr>
        <p:txBody>
          <a:bodyPr wrap="square" lIns="0" tIns="0" rIns="0" bIns="0" rtlCol="0" anchor="ctr"/>
          <a:lstStyle/>
          <a:p>
            <a:pPr marL="0" indent="0" algn="ctr">
              <a:buNone/>
            </a:pPr>
            <a:r>
              <a:rPr lang="en-US" sz="1300" b="1" dirty="0">
                <a:solidFill>
                  <a:srgbClr val="0A2342"/>
                </a:solidFill>
              </a:rPr>
              <a:t>03</a:t>
            </a:r>
            <a:endParaRPr lang="en-US" sz="1300" dirty="0"/>
          </a:p>
        </p:txBody>
      </p:sp>
      <p:sp>
        <p:nvSpPr>
          <p:cNvPr id="17" name="Text 15"/>
          <p:cNvSpPr/>
          <p:nvPr/>
        </p:nvSpPr>
        <p:spPr>
          <a:xfrm>
            <a:off x="914400" y="3017520"/>
            <a:ext cx="3383280" cy="320040"/>
          </a:xfrm>
          <a:prstGeom prst="rect">
            <a:avLst/>
          </a:prstGeom>
          <a:noFill/>
          <a:ln/>
        </p:spPr>
        <p:txBody>
          <a:bodyPr wrap="square" lIns="0" tIns="0" rIns="0" bIns="0" rtlCol="0" anchor="ctr"/>
          <a:lstStyle/>
          <a:p>
            <a:pPr marL="0" indent="0">
              <a:buNone/>
            </a:pPr>
            <a:r>
              <a:rPr lang="en-US" sz="1300" b="1" dirty="0">
                <a:solidFill>
                  <a:srgbClr val="0A2342"/>
                </a:solidFill>
              </a:rPr>
              <a:t>Data Used</a:t>
            </a:r>
            <a:endParaRPr lang="en-US" sz="1300" dirty="0"/>
          </a:p>
        </p:txBody>
      </p:sp>
      <p:sp>
        <p:nvSpPr>
          <p:cNvPr id="18" name="Text 16"/>
          <p:cNvSpPr/>
          <p:nvPr/>
        </p:nvSpPr>
        <p:spPr>
          <a:xfrm>
            <a:off x="914400" y="3337560"/>
            <a:ext cx="3383280" cy="320040"/>
          </a:xfrm>
          <a:prstGeom prst="rect">
            <a:avLst/>
          </a:prstGeom>
          <a:noFill/>
          <a:ln/>
        </p:spPr>
        <p:txBody>
          <a:bodyPr wrap="square" lIns="0" tIns="0" rIns="0" bIns="0" rtlCol="0" anchor="ctr"/>
          <a:lstStyle/>
          <a:p>
            <a:pPr marL="0" indent="0">
              <a:buNone/>
            </a:pPr>
            <a:r>
              <a:rPr lang="en-US" sz="950" dirty="0">
                <a:solidFill>
                  <a:srgbClr val="5E7A8A"/>
                </a:solidFill>
              </a:rPr>
              <a:t>Sources, types, and datasets</a:t>
            </a:r>
            <a:endParaRPr lang="en-US" sz="950" dirty="0"/>
          </a:p>
        </p:txBody>
      </p:sp>
      <p:sp>
        <p:nvSpPr>
          <p:cNvPr id="19" name="Shape 17"/>
          <p:cNvSpPr/>
          <p:nvPr/>
        </p:nvSpPr>
        <p:spPr>
          <a:xfrm>
            <a:off x="320040" y="3886200"/>
            <a:ext cx="4114800" cy="749808"/>
          </a:xfrm>
          <a:prstGeom prst="rect">
            <a:avLst/>
          </a:prstGeom>
          <a:solidFill>
            <a:srgbClr val="FFFFFF"/>
          </a:solidFill>
          <a:ln/>
          <a:effectLst>
            <a:outerShdw blurRad="101600" dist="38100" dir="8100000" algn="bl" rotWithShape="0">
              <a:srgbClr val="000000">
                <a:alpha val="12000"/>
              </a:srgbClr>
            </a:outerShdw>
          </a:effectLst>
        </p:spPr>
      </p:sp>
      <p:sp>
        <p:nvSpPr>
          <p:cNvPr id="20" name="Shape 18"/>
          <p:cNvSpPr/>
          <p:nvPr/>
        </p:nvSpPr>
        <p:spPr>
          <a:xfrm>
            <a:off x="320040" y="3886200"/>
            <a:ext cx="502920" cy="749808"/>
          </a:xfrm>
          <a:prstGeom prst="rect">
            <a:avLst/>
          </a:prstGeom>
          <a:solidFill>
            <a:srgbClr val="02C39A"/>
          </a:solidFill>
          <a:ln/>
        </p:spPr>
      </p:sp>
      <p:sp>
        <p:nvSpPr>
          <p:cNvPr id="21" name="Text 19"/>
          <p:cNvSpPr/>
          <p:nvPr/>
        </p:nvSpPr>
        <p:spPr>
          <a:xfrm>
            <a:off x="320040" y="3886200"/>
            <a:ext cx="502920" cy="749808"/>
          </a:xfrm>
          <a:prstGeom prst="rect">
            <a:avLst/>
          </a:prstGeom>
          <a:noFill/>
          <a:ln/>
        </p:spPr>
        <p:txBody>
          <a:bodyPr wrap="square" lIns="0" tIns="0" rIns="0" bIns="0" rtlCol="0" anchor="ctr"/>
          <a:lstStyle/>
          <a:p>
            <a:pPr marL="0" indent="0" algn="ctr">
              <a:buNone/>
            </a:pPr>
            <a:r>
              <a:rPr lang="en-US" sz="1300" b="1" dirty="0">
                <a:solidFill>
                  <a:srgbClr val="0A2342"/>
                </a:solidFill>
              </a:rPr>
              <a:t>04</a:t>
            </a:r>
            <a:endParaRPr lang="en-US" sz="1300" dirty="0"/>
          </a:p>
        </p:txBody>
      </p:sp>
      <p:sp>
        <p:nvSpPr>
          <p:cNvPr id="22" name="Text 20"/>
          <p:cNvSpPr/>
          <p:nvPr/>
        </p:nvSpPr>
        <p:spPr>
          <a:xfrm>
            <a:off x="914400" y="3931920"/>
            <a:ext cx="3383280" cy="320040"/>
          </a:xfrm>
          <a:prstGeom prst="rect">
            <a:avLst/>
          </a:prstGeom>
          <a:noFill/>
          <a:ln/>
        </p:spPr>
        <p:txBody>
          <a:bodyPr wrap="square" lIns="0" tIns="0" rIns="0" bIns="0" rtlCol="0" anchor="ctr"/>
          <a:lstStyle/>
          <a:p>
            <a:pPr marL="0" indent="0">
              <a:buNone/>
            </a:pPr>
            <a:r>
              <a:rPr lang="en-US" sz="1300" b="1" dirty="0">
                <a:solidFill>
                  <a:srgbClr val="0A2342"/>
                </a:solidFill>
              </a:rPr>
              <a:t>Tools &amp; Techniques</a:t>
            </a:r>
            <a:endParaRPr lang="en-US" sz="1300" dirty="0"/>
          </a:p>
        </p:txBody>
      </p:sp>
      <p:sp>
        <p:nvSpPr>
          <p:cNvPr id="23" name="Text 21"/>
          <p:cNvSpPr/>
          <p:nvPr/>
        </p:nvSpPr>
        <p:spPr>
          <a:xfrm>
            <a:off x="914400" y="4251960"/>
            <a:ext cx="3383280" cy="320040"/>
          </a:xfrm>
          <a:prstGeom prst="rect">
            <a:avLst/>
          </a:prstGeom>
          <a:noFill/>
          <a:ln/>
        </p:spPr>
        <p:txBody>
          <a:bodyPr wrap="square" lIns="0" tIns="0" rIns="0" bIns="0" rtlCol="0" anchor="ctr"/>
          <a:lstStyle/>
          <a:p>
            <a:pPr marL="0" indent="0">
              <a:buNone/>
            </a:pPr>
            <a:r>
              <a:rPr lang="en-US" sz="950" dirty="0">
                <a:solidFill>
                  <a:srgbClr val="5E7A8A"/>
                </a:solidFill>
              </a:rPr>
              <a:t>Hadoop, Spark, ML &amp; APIs</a:t>
            </a:r>
            <a:endParaRPr lang="en-US" sz="950" dirty="0"/>
          </a:p>
        </p:txBody>
      </p:sp>
      <p:sp>
        <p:nvSpPr>
          <p:cNvPr id="24" name="Shape 22"/>
          <p:cNvSpPr/>
          <p:nvPr/>
        </p:nvSpPr>
        <p:spPr>
          <a:xfrm>
            <a:off x="4754880" y="1143000"/>
            <a:ext cx="4114800" cy="749808"/>
          </a:xfrm>
          <a:prstGeom prst="rect">
            <a:avLst/>
          </a:prstGeom>
          <a:solidFill>
            <a:srgbClr val="FFFFFF"/>
          </a:solidFill>
          <a:ln/>
          <a:effectLst>
            <a:outerShdw blurRad="101600" dist="38100" dir="8100000" algn="bl" rotWithShape="0">
              <a:srgbClr val="000000">
                <a:alpha val="12000"/>
              </a:srgbClr>
            </a:outerShdw>
          </a:effectLst>
        </p:spPr>
      </p:sp>
      <p:sp>
        <p:nvSpPr>
          <p:cNvPr id="25" name="Shape 23"/>
          <p:cNvSpPr/>
          <p:nvPr/>
        </p:nvSpPr>
        <p:spPr>
          <a:xfrm>
            <a:off x="4754880" y="1143000"/>
            <a:ext cx="502920" cy="749808"/>
          </a:xfrm>
          <a:prstGeom prst="rect">
            <a:avLst/>
          </a:prstGeom>
          <a:solidFill>
            <a:srgbClr val="02C39A"/>
          </a:solidFill>
          <a:ln/>
        </p:spPr>
      </p:sp>
      <p:sp>
        <p:nvSpPr>
          <p:cNvPr id="26" name="Text 24"/>
          <p:cNvSpPr/>
          <p:nvPr/>
        </p:nvSpPr>
        <p:spPr>
          <a:xfrm>
            <a:off x="4754880" y="1143000"/>
            <a:ext cx="502920" cy="749808"/>
          </a:xfrm>
          <a:prstGeom prst="rect">
            <a:avLst/>
          </a:prstGeom>
          <a:noFill/>
          <a:ln/>
        </p:spPr>
        <p:txBody>
          <a:bodyPr wrap="square" lIns="0" tIns="0" rIns="0" bIns="0" rtlCol="0" anchor="ctr"/>
          <a:lstStyle/>
          <a:p>
            <a:pPr marL="0" indent="0" algn="ctr">
              <a:buNone/>
            </a:pPr>
            <a:r>
              <a:rPr lang="en-US" sz="1300" b="1" dirty="0">
                <a:solidFill>
                  <a:srgbClr val="0A2342"/>
                </a:solidFill>
              </a:rPr>
              <a:t>05</a:t>
            </a:r>
            <a:endParaRPr lang="en-US" sz="1300" dirty="0"/>
          </a:p>
        </p:txBody>
      </p:sp>
      <p:sp>
        <p:nvSpPr>
          <p:cNvPr id="27" name="Text 25"/>
          <p:cNvSpPr/>
          <p:nvPr/>
        </p:nvSpPr>
        <p:spPr>
          <a:xfrm>
            <a:off x="5349240" y="1188720"/>
            <a:ext cx="3383280" cy="320040"/>
          </a:xfrm>
          <a:prstGeom prst="rect">
            <a:avLst/>
          </a:prstGeom>
          <a:noFill/>
          <a:ln/>
        </p:spPr>
        <p:txBody>
          <a:bodyPr wrap="square" lIns="0" tIns="0" rIns="0" bIns="0" rtlCol="0" anchor="ctr"/>
          <a:lstStyle/>
          <a:p>
            <a:pPr marL="0" indent="0">
              <a:buNone/>
            </a:pPr>
            <a:r>
              <a:rPr lang="en-US" sz="1300" b="1" dirty="0">
                <a:solidFill>
                  <a:srgbClr val="0A2342"/>
                </a:solidFill>
              </a:rPr>
              <a:t>Working Process</a:t>
            </a:r>
            <a:endParaRPr lang="en-US" sz="1300" dirty="0"/>
          </a:p>
        </p:txBody>
      </p:sp>
      <p:sp>
        <p:nvSpPr>
          <p:cNvPr id="28" name="Text 26"/>
          <p:cNvSpPr/>
          <p:nvPr/>
        </p:nvSpPr>
        <p:spPr>
          <a:xfrm>
            <a:off x="5349240" y="1508760"/>
            <a:ext cx="3383280" cy="320040"/>
          </a:xfrm>
          <a:prstGeom prst="rect">
            <a:avLst/>
          </a:prstGeom>
          <a:noFill/>
          <a:ln/>
        </p:spPr>
        <p:txBody>
          <a:bodyPr wrap="square" lIns="0" tIns="0" rIns="0" bIns="0" rtlCol="0" anchor="ctr"/>
          <a:lstStyle/>
          <a:p>
            <a:pPr marL="0" indent="0">
              <a:buNone/>
            </a:pPr>
            <a:r>
              <a:rPr lang="en-US" sz="950" dirty="0">
                <a:solidFill>
                  <a:srgbClr val="5E7A8A"/>
                </a:solidFill>
              </a:rPr>
              <a:t>System flow and architecture</a:t>
            </a:r>
            <a:endParaRPr lang="en-US" sz="950" dirty="0"/>
          </a:p>
        </p:txBody>
      </p:sp>
      <p:sp>
        <p:nvSpPr>
          <p:cNvPr id="29" name="Shape 27"/>
          <p:cNvSpPr/>
          <p:nvPr/>
        </p:nvSpPr>
        <p:spPr>
          <a:xfrm>
            <a:off x="4754880" y="2057400"/>
            <a:ext cx="4114800" cy="749808"/>
          </a:xfrm>
          <a:prstGeom prst="rect">
            <a:avLst/>
          </a:prstGeom>
          <a:solidFill>
            <a:srgbClr val="FFFFFF"/>
          </a:solidFill>
          <a:ln/>
          <a:effectLst>
            <a:outerShdw blurRad="101600" dist="38100" dir="8100000" algn="bl" rotWithShape="0">
              <a:srgbClr val="000000">
                <a:alpha val="12000"/>
              </a:srgbClr>
            </a:outerShdw>
          </a:effectLst>
        </p:spPr>
      </p:sp>
      <p:sp>
        <p:nvSpPr>
          <p:cNvPr id="30" name="Shape 28"/>
          <p:cNvSpPr/>
          <p:nvPr/>
        </p:nvSpPr>
        <p:spPr>
          <a:xfrm>
            <a:off x="4754880" y="2057400"/>
            <a:ext cx="502920" cy="749808"/>
          </a:xfrm>
          <a:prstGeom prst="rect">
            <a:avLst/>
          </a:prstGeom>
          <a:solidFill>
            <a:srgbClr val="02C39A"/>
          </a:solidFill>
          <a:ln/>
        </p:spPr>
      </p:sp>
      <p:sp>
        <p:nvSpPr>
          <p:cNvPr id="31" name="Text 29"/>
          <p:cNvSpPr/>
          <p:nvPr/>
        </p:nvSpPr>
        <p:spPr>
          <a:xfrm>
            <a:off x="4754880" y="2057400"/>
            <a:ext cx="502920" cy="749808"/>
          </a:xfrm>
          <a:prstGeom prst="rect">
            <a:avLst/>
          </a:prstGeom>
          <a:noFill/>
          <a:ln/>
        </p:spPr>
        <p:txBody>
          <a:bodyPr wrap="square" lIns="0" tIns="0" rIns="0" bIns="0" rtlCol="0" anchor="ctr"/>
          <a:lstStyle/>
          <a:p>
            <a:pPr marL="0" indent="0" algn="ctr">
              <a:buNone/>
            </a:pPr>
            <a:r>
              <a:rPr lang="en-US" sz="1300" b="1" dirty="0">
                <a:solidFill>
                  <a:srgbClr val="0A2342"/>
                </a:solidFill>
              </a:rPr>
              <a:t>06</a:t>
            </a:r>
            <a:endParaRPr lang="en-US" sz="1300" dirty="0"/>
          </a:p>
        </p:txBody>
      </p:sp>
      <p:sp>
        <p:nvSpPr>
          <p:cNvPr id="32" name="Text 30"/>
          <p:cNvSpPr/>
          <p:nvPr/>
        </p:nvSpPr>
        <p:spPr>
          <a:xfrm>
            <a:off x="5349240" y="2103120"/>
            <a:ext cx="3383280" cy="320040"/>
          </a:xfrm>
          <a:prstGeom prst="rect">
            <a:avLst/>
          </a:prstGeom>
          <a:noFill/>
          <a:ln/>
        </p:spPr>
        <p:txBody>
          <a:bodyPr wrap="square" lIns="0" tIns="0" rIns="0" bIns="0" rtlCol="0" anchor="ctr"/>
          <a:lstStyle/>
          <a:p>
            <a:pPr marL="0" indent="0">
              <a:buNone/>
            </a:pPr>
            <a:r>
              <a:rPr lang="en-US" sz="1300" b="1" dirty="0">
                <a:solidFill>
                  <a:srgbClr val="0A2342"/>
                </a:solidFill>
              </a:rPr>
              <a:t>Results / Impact</a:t>
            </a:r>
            <a:endParaRPr lang="en-US" sz="1300" dirty="0"/>
          </a:p>
        </p:txBody>
      </p:sp>
      <p:sp>
        <p:nvSpPr>
          <p:cNvPr id="33" name="Text 31"/>
          <p:cNvSpPr/>
          <p:nvPr/>
        </p:nvSpPr>
        <p:spPr>
          <a:xfrm>
            <a:off x="5349240" y="2423160"/>
            <a:ext cx="3383280" cy="320040"/>
          </a:xfrm>
          <a:prstGeom prst="rect">
            <a:avLst/>
          </a:prstGeom>
          <a:noFill/>
          <a:ln/>
        </p:spPr>
        <p:txBody>
          <a:bodyPr wrap="square" lIns="0" tIns="0" rIns="0" bIns="0" rtlCol="0" anchor="ctr"/>
          <a:lstStyle/>
          <a:p>
            <a:pPr marL="0" indent="0">
              <a:buNone/>
            </a:pPr>
            <a:r>
              <a:rPr lang="en-US" sz="950" dirty="0">
                <a:solidFill>
                  <a:srgbClr val="5E7A8A"/>
                </a:solidFill>
              </a:rPr>
              <a:t>Outcomes and improvements</a:t>
            </a:r>
            <a:endParaRPr lang="en-US" sz="950" dirty="0"/>
          </a:p>
        </p:txBody>
      </p:sp>
      <p:sp>
        <p:nvSpPr>
          <p:cNvPr id="34" name="Shape 32"/>
          <p:cNvSpPr/>
          <p:nvPr/>
        </p:nvSpPr>
        <p:spPr>
          <a:xfrm>
            <a:off x="4754880" y="2971800"/>
            <a:ext cx="4114800" cy="749808"/>
          </a:xfrm>
          <a:prstGeom prst="rect">
            <a:avLst/>
          </a:prstGeom>
          <a:solidFill>
            <a:srgbClr val="FFFFFF"/>
          </a:solidFill>
          <a:ln/>
          <a:effectLst>
            <a:outerShdw blurRad="101600" dist="38100" dir="8100000" algn="bl" rotWithShape="0">
              <a:srgbClr val="000000">
                <a:alpha val="12000"/>
              </a:srgbClr>
            </a:outerShdw>
          </a:effectLst>
        </p:spPr>
      </p:sp>
      <p:sp>
        <p:nvSpPr>
          <p:cNvPr id="35" name="Shape 33"/>
          <p:cNvSpPr/>
          <p:nvPr/>
        </p:nvSpPr>
        <p:spPr>
          <a:xfrm>
            <a:off x="4754880" y="2971800"/>
            <a:ext cx="502920" cy="749808"/>
          </a:xfrm>
          <a:prstGeom prst="rect">
            <a:avLst/>
          </a:prstGeom>
          <a:solidFill>
            <a:srgbClr val="02C39A"/>
          </a:solidFill>
          <a:ln/>
        </p:spPr>
      </p:sp>
      <p:sp>
        <p:nvSpPr>
          <p:cNvPr id="36" name="Text 34"/>
          <p:cNvSpPr/>
          <p:nvPr/>
        </p:nvSpPr>
        <p:spPr>
          <a:xfrm>
            <a:off x="4754880" y="2971800"/>
            <a:ext cx="502920" cy="749808"/>
          </a:xfrm>
          <a:prstGeom prst="rect">
            <a:avLst/>
          </a:prstGeom>
          <a:noFill/>
          <a:ln/>
        </p:spPr>
        <p:txBody>
          <a:bodyPr wrap="square" lIns="0" tIns="0" rIns="0" bIns="0" rtlCol="0" anchor="ctr"/>
          <a:lstStyle/>
          <a:p>
            <a:pPr marL="0" indent="0" algn="ctr">
              <a:buNone/>
            </a:pPr>
            <a:r>
              <a:rPr lang="en-US" sz="1300" b="1" dirty="0">
                <a:solidFill>
                  <a:srgbClr val="0A2342"/>
                </a:solidFill>
              </a:rPr>
              <a:t>07</a:t>
            </a:r>
            <a:endParaRPr lang="en-US" sz="1300" dirty="0"/>
          </a:p>
        </p:txBody>
      </p:sp>
      <p:sp>
        <p:nvSpPr>
          <p:cNvPr id="37" name="Text 35"/>
          <p:cNvSpPr/>
          <p:nvPr/>
        </p:nvSpPr>
        <p:spPr>
          <a:xfrm>
            <a:off x="5349240" y="3017520"/>
            <a:ext cx="3383280" cy="320040"/>
          </a:xfrm>
          <a:prstGeom prst="rect">
            <a:avLst/>
          </a:prstGeom>
          <a:noFill/>
          <a:ln/>
        </p:spPr>
        <p:txBody>
          <a:bodyPr wrap="square" lIns="0" tIns="0" rIns="0" bIns="0" rtlCol="0" anchor="ctr"/>
          <a:lstStyle/>
          <a:p>
            <a:pPr marL="0" indent="0">
              <a:buNone/>
            </a:pPr>
            <a:r>
              <a:rPr lang="en-US" sz="1300" b="1" dirty="0">
                <a:solidFill>
                  <a:srgbClr val="0A2342"/>
                </a:solidFill>
              </a:rPr>
              <a:t>Conclusion</a:t>
            </a:r>
            <a:endParaRPr lang="en-US" sz="1300" dirty="0"/>
          </a:p>
        </p:txBody>
      </p:sp>
      <p:sp>
        <p:nvSpPr>
          <p:cNvPr id="38" name="Text 36"/>
          <p:cNvSpPr/>
          <p:nvPr/>
        </p:nvSpPr>
        <p:spPr>
          <a:xfrm>
            <a:off x="5349240" y="3337560"/>
            <a:ext cx="3383280" cy="320040"/>
          </a:xfrm>
          <a:prstGeom prst="rect">
            <a:avLst/>
          </a:prstGeom>
          <a:noFill/>
          <a:ln/>
        </p:spPr>
        <p:txBody>
          <a:bodyPr wrap="square" lIns="0" tIns="0" rIns="0" bIns="0" rtlCol="0" anchor="ctr"/>
          <a:lstStyle/>
          <a:p>
            <a:pPr marL="0" indent="0">
              <a:buNone/>
            </a:pPr>
            <a:r>
              <a:rPr lang="en-US" sz="950" dirty="0">
                <a:solidFill>
                  <a:srgbClr val="5E7A8A"/>
                </a:solidFill>
              </a:rPr>
              <a:t>Key takeaways and future scope</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65A82"/>
          </a:solidFill>
          <a:ln/>
        </p:spPr>
      </p:sp>
      <p:sp>
        <p:nvSpPr>
          <p:cNvPr id="3" name="Text 1"/>
          <p:cNvSpPr/>
          <p:nvPr/>
        </p:nvSpPr>
        <p:spPr>
          <a:xfrm>
            <a:off x="365760" y="0"/>
            <a:ext cx="8229600" cy="914400"/>
          </a:xfrm>
          <a:prstGeom prst="rect">
            <a:avLst/>
          </a:prstGeom>
          <a:noFill/>
          <a:ln/>
        </p:spPr>
        <p:txBody>
          <a:bodyPr wrap="square" lIns="0" tIns="0" rIns="0" bIns="0" rtlCol="0" anchor="ctr"/>
          <a:lstStyle/>
          <a:p>
            <a:pPr marL="0" indent="0">
              <a:buNone/>
            </a:pPr>
            <a:r>
              <a:rPr lang="en-US" sz="2200" b="1" dirty="0">
                <a:solidFill>
                  <a:srgbClr val="FFFFFF"/>
                </a:solidFill>
              </a:rPr>
              <a:t>01  |  INTRODUCTION</a:t>
            </a:r>
            <a:endParaRPr lang="en-US" sz="2200" dirty="0"/>
          </a:p>
        </p:txBody>
      </p:sp>
      <p:sp>
        <p:nvSpPr>
          <p:cNvPr id="4" name="Text 2"/>
          <p:cNvSpPr/>
          <p:nvPr/>
        </p:nvSpPr>
        <p:spPr>
          <a:xfrm>
            <a:off x="365760" y="1051560"/>
            <a:ext cx="5029200" cy="365760"/>
          </a:xfrm>
          <a:prstGeom prst="rect">
            <a:avLst/>
          </a:prstGeom>
          <a:noFill/>
          <a:ln/>
        </p:spPr>
        <p:txBody>
          <a:bodyPr wrap="square" lIns="0" tIns="0" rIns="0" bIns="0" rtlCol="0" anchor="ctr"/>
          <a:lstStyle/>
          <a:p>
            <a:pPr marL="0" indent="0">
              <a:buNone/>
            </a:pPr>
            <a:r>
              <a:rPr lang="en-US" sz="1600" b="1" dirty="0">
                <a:solidFill>
                  <a:srgbClr val="0A2342"/>
                </a:solidFill>
              </a:rPr>
              <a:t>What is a Smart City?</a:t>
            </a:r>
            <a:endParaRPr lang="en-US" sz="1600" dirty="0"/>
          </a:p>
        </p:txBody>
      </p:sp>
      <p:sp>
        <p:nvSpPr>
          <p:cNvPr id="5" name="Text 3"/>
          <p:cNvSpPr/>
          <p:nvPr/>
        </p:nvSpPr>
        <p:spPr>
          <a:xfrm>
            <a:off x="365760" y="1463040"/>
            <a:ext cx="5029200" cy="1371600"/>
          </a:xfrm>
          <a:prstGeom prst="rect">
            <a:avLst/>
          </a:prstGeom>
          <a:noFill/>
          <a:ln/>
        </p:spPr>
        <p:txBody>
          <a:bodyPr wrap="square" lIns="0" tIns="0" rIns="0" bIns="0" rtlCol="0" anchor="ctr"/>
          <a:lstStyle/>
          <a:p>
            <a:pPr marL="0" indent="0" algn="l">
              <a:buNone/>
            </a:pPr>
            <a:r>
              <a:rPr lang="en-US" sz="1200" dirty="0">
                <a:solidFill>
                  <a:srgbClr val="1E2D3D"/>
                </a:solidFill>
              </a:rPr>
              <a:t>A Smart City leverages digital technologies and data analytics to enhance performance, wellbeing, and reduce costs across core services. Big Data acts as the backbone—collecting, processing, and analysing vast streams from IoT sensors, citizens, and infrastructure in real time.</a:t>
            </a:r>
            <a:endParaRPr lang="en-US" sz="1200" dirty="0"/>
          </a:p>
        </p:txBody>
      </p:sp>
      <p:sp>
        <p:nvSpPr>
          <p:cNvPr id="6" name="Shape 4"/>
          <p:cNvSpPr/>
          <p:nvPr/>
        </p:nvSpPr>
        <p:spPr>
          <a:xfrm>
            <a:off x="320040" y="3017520"/>
            <a:ext cx="2743200" cy="1737360"/>
          </a:xfrm>
          <a:prstGeom prst="rect">
            <a:avLst/>
          </a:prstGeom>
          <a:solidFill>
            <a:srgbClr val="E8F4F8"/>
          </a:solidFill>
          <a:ln/>
          <a:effectLst>
            <a:outerShdw blurRad="101600" dist="38100" dir="8100000" algn="bl" rotWithShape="0">
              <a:srgbClr val="000000">
                <a:alpha val="12000"/>
              </a:srgbClr>
            </a:outerShdw>
          </a:effectLst>
        </p:spPr>
      </p:sp>
      <p:sp>
        <p:nvSpPr>
          <p:cNvPr id="7" name="Shape 5"/>
          <p:cNvSpPr/>
          <p:nvPr/>
        </p:nvSpPr>
        <p:spPr>
          <a:xfrm>
            <a:off x="320040" y="3017520"/>
            <a:ext cx="2743200" cy="411480"/>
          </a:xfrm>
          <a:prstGeom prst="rect">
            <a:avLst/>
          </a:prstGeom>
          <a:solidFill>
            <a:srgbClr val="065A82"/>
          </a:solidFill>
          <a:ln/>
        </p:spPr>
      </p:sp>
      <p:sp>
        <p:nvSpPr>
          <p:cNvPr id="8" name="Text 6"/>
          <p:cNvSpPr/>
          <p:nvPr/>
        </p:nvSpPr>
        <p:spPr>
          <a:xfrm>
            <a:off x="320040" y="3017520"/>
            <a:ext cx="2743200" cy="411480"/>
          </a:xfrm>
          <a:prstGeom prst="rect">
            <a:avLst/>
          </a:prstGeom>
          <a:noFill/>
          <a:ln/>
        </p:spPr>
        <p:txBody>
          <a:bodyPr wrap="square" lIns="0" tIns="0" rIns="0" bIns="0" rtlCol="0" anchor="ctr"/>
          <a:lstStyle/>
          <a:p>
            <a:pPr marL="0" indent="0" algn="ctr">
              <a:buNone/>
            </a:pPr>
            <a:r>
              <a:rPr lang="en-US" sz="1200" b="1" dirty="0">
                <a:solidFill>
                  <a:srgbClr val="FFFFFF"/>
                </a:solidFill>
              </a:rPr>
              <a:t>🗑️  WASTE</a:t>
            </a:r>
            <a:endParaRPr lang="en-US" sz="1200" dirty="0"/>
          </a:p>
        </p:txBody>
      </p:sp>
      <p:sp>
        <p:nvSpPr>
          <p:cNvPr id="9" name="Text 7"/>
          <p:cNvSpPr/>
          <p:nvPr/>
        </p:nvSpPr>
        <p:spPr>
          <a:xfrm>
            <a:off x="411480" y="3474720"/>
            <a:ext cx="2560320" cy="1188720"/>
          </a:xfrm>
          <a:prstGeom prst="rect">
            <a:avLst/>
          </a:prstGeom>
          <a:noFill/>
          <a:ln/>
        </p:spPr>
        <p:txBody>
          <a:bodyPr wrap="square" lIns="0" tIns="0" rIns="0" bIns="0" rtlCol="0" anchor="ctr"/>
          <a:lstStyle/>
          <a:p>
            <a:pPr marL="0" indent="0" algn="ctr">
              <a:buNone/>
            </a:pPr>
            <a:r>
              <a:rPr lang="en-US" sz="1050" dirty="0">
                <a:solidFill>
                  <a:srgbClr val="1E2D3D"/>
                </a:solidFill>
              </a:rPr>
              <a:t>Smart bin sensors, route optimisation, overflow alerts</a:t>
            </a:r>
            <a:endParaRPr lang="en-US" sz="1050" dirty="0"/>
          </a:p>
        </p:txBody>
      </p:sp>
      <p:sp>
        <p:nvSpPr>
          <p:cNvPr id="10" name="Shape 8"/>
          <p:cNvSpPr/>
          <p:nvPr/>
        </p:nvSpPr>
        <p:spPr>
          <a:xfrm>
            <a:off x="3264408" y="3017520"/>
            <a:ext cx="2743200" cy="1737360"/>
          </a:xfrm>
          <a:prstGeom prst="rect">
            <a:avLst/>
          </a:prstGeom>
          <a:solidFill>
            <a:srgbClr val="E8F4F8"/>
          </a:solidFill>
          <a:ln/>
          <a:effectLst>
            <a:outerShdw blurRad="101600" dist="38100" dir="8100000" algn="bl" rotWithShape="0">
              <a:srgbClr val="000000">
                <a:alpha val="12000"/>
              </a:srgbClr>
            </a:outerShdw>
          </a:effectLst>
        </p:spPr>
      </p:sp>
      <p:sp>
        <p:nvSpPr>
          <p:cNvPr id="11" name="Shape 9"/>
          <p:cNvSpPr/>
          <p:nvPr/>
        </p:nvSpPr>
        <p:spPr>
          <a:xfrm>
            <a:off x="3264408" y="3017520"/>
            <a:ext cx="2743200" cy="411480"/>
          </a:xfrm>
          <a:prstGeom prst="rect">
            <a:avLst/>
          </a:prstGeom>
          <a:solidFill>
            <a:srgbClr val="065A82"/>
          </a:solidFill>
          <a:ln/>
        </p:spPr>
      </p:sp>
      <p:sp>
        <p:nvSpPr>
          <p:cNvPr id="12" name="Text 10"/>
          <p:cNvSpPr/>
          <p:nvPr/>
        </p:nvSpPr>
        <p:spPr>
          <a:xfrm>
            <a:off x="3264408" y="3017520"/>
            <a:ext cx="2743200" cy="411480"/>
          </a:xfrm>
          <a:prstGeom prst="rect">
            <a:avLst/>
          </a:prstGeom>
          <a:noFill/>
          <a:ln/>
        </p:spPr>
        <p:txBody>
          <a:bodyPr wrap="square" lIns="0" tIns="0" rIns="0" bIns="0" rtlCol="0" anchor="ctr"/>
          <a:lstStyle/>
          <a:p>
            <a:pPr marL="0" indent="0" algn="ctr">
              <a:buNone/>
            </a:pPr>
            <a:r>
              <a:rPr lang="en-US" sz="1200" b="1" dirty="0">
                <a:solidFill>
                  <a:srgbClr val="FFFFFF"/>
                </a:solidFill>
              </a:rPr>
              <a:t>🚦  TRAFFIC</a:t>
            </a:r>
            <a:endParaRPr lang="en-US" sz="1200" dirty="0"/>
          </a:p>
        </p:txBody>
      </p:sp>
      <p:sp>
        <p:nvSpPr>
          <p:cNvPr id="13" name="Text 11"/>
          <p:cNvSpPr/>
          <p:nvPr/>
        </p:nvSpPr>
        <p:spPr>
          <a:xfrm>
            <a:off x="3355848" y="3474720"/>
            <a:ext cx="2560320" cy="1188720"/>
          </a:xfrm>
          <a:prstGeom prst="rect">
            <a:avLst/>
          </a:prstGeom>
          <a:noFill/>
          <a:ln/>
        </p:spPr>
        <p:txBody>
          <a:bodyPr wrap="square" lIns="0" tIns="0" rIns="0" bIns="0" rtlCol="0" anchor="ctr"/>
          <a:lstStyle/>
          <a:p>
            <a:pPr marL="0" indent="0" algn="ctr">
              <a:buNone/>
            </a:pPr>
            <a:r>
              <a:rPr lang="en-US" sz="1050" dirty="0">
                <a:solidFill>
                  <a:srgbClr val="1E2D3D"/>
                </a:solidFill>
              </a:rPr>
              <a:t>Real-time signal control, congestion prediction, GPS data</a:t>
            </a:r>
            <a:endParaRPr lang="en-US" sz="1050" dirty="0"/>
          </a:p>
        </p:txBody>
      </p:sp>
      <p:sp>
        <p:nvSpPr>
          <p:cNvPr id="14" name="Shape 12"/>
          <p:cNvSpPr/>
          <p:nvPr/>
        </p:nvSpPr>
        <p:spPr>
          <a:xfrm>
            <a:off x="6208776" y="3017520"/>
            <a:ext cx="2743200" cy="1737360"/>
          </a:xfrm>
          <a:prstGeom prst="rect">
            <a:avLst/>
          </a:prstGeom>
          <a:solidFill>
            <a:srgbClr val="E8F4F8"/>
          </a:solidFill>
          <a:ln/>
          <a:effectLst>
            <a:outerShdw blurRad="101600" dist="38100" dir="8100000" algn="bl" rotWithShape="0">
              <a:srgbClr val="000000">
                <a:alpha val="12000"/>
              </a:srgbClr>
            </a:outerShdw>
          </a:effectLst>
        </p:spPr>
      </p:sp>
      <p:sp>
        <p:nvSpPr>
          <p:cNvPr id="15" name="Shape 13"/>
          <p:cNvSpPr/>
          <p:nvPr/>
        </p:nvSpPr>
        <p:spPr>
          <a:xfrm>
            <a:off x="6208776" y="3017520"/>
            <a:ext cx="2743200" cy="411480"/>
          </a:xfrm>
          <a:prstGeom prst="rect">
            <a:avLst/>
          </a:prstGeom>
          <a:solidFill>
            <a:srgbClr val="065A82"/>
          </a:solidFill>
          <a:ln/>
        </p:spPr>
      </p:sp>
      <p:sp>
        <p:nvSpPr>
          <p:cNvPr id="16" name="Text 14"/>
          <p:cNvSpPr/>
          <p:nvPr/>
        </p:nvSpPr>
        <p:spPr>
          <a:xfrm>
            <a:off x="6208776" y="3017520"/>
            <a:ext cx="2743200" cy="411480"/>
          </a:xfrm>
          <a:prstGeom prst="rect">
            <a:avLst/>
          </a:prstGeom>
          <a:noFill/>
          <a:ln/>
        </p:spPr>
        <p:txBody>
          <a:bodyPr wrap="square" lIns="0" tIns="0" rIns="0" bIns="0" rtlCol="0" anchor="ctr"/>
          <a:lstStyle/>
          <a:p>
            <a:pPr marL="0" indent="0" algn="ctr">
              <a:buNone/>
            </a:pPr>
            <a:r>
              <a:rPr lang="en-US" sz="1200" b="1" dirty="0">
                <a:solidFill>
                  <a:srgbClr val="FFFFFF"/>
                </a:solidFill>
              </a:rPr>
              <a:t>⚡  ENERGY</a:t>
            </a:r>
            <a:endParaRPr lang="en-US" sz="1200" dirty="0"/>
          </a:p>
        </p:txBody>
      </p:sp>
      <p:sp>
        <p:nvSpPr>
          <p:cNvPr id="17" name="Text 15"/>
          <p:cNvSpPr/>
          <p:nvPr/>
        </p:nvSpPr>
        <p:spPr>
          <a:xfrm>
            <a:off x="6300216" y="3474720"/>
            <a:ext cx="2560320" cy="1188720"/>
          </a:xfrm>
          <a:prstGeom prst="rect">
            <a:avLst/>
          </a:prstGeom>
          <a:noFill/>
          <a:ln/>
        </p:spPr>
        <p:txBody>
          <a:bodyPr wrap="square" lIns="0" tIns="0" rIns="0" bIns="0" rtlCol="0" anchor="ctr"/>
          <a:lstStyle/>
          <a:p>
            <a:pPr marL="0" indent="0" algn="ctr">
              <a:buNone/>
            </a:pPr>
            <a:r>
              <a:rPr lang="en-US" sz="1050" dirty="0">
                <a:solidFill>
                  <a:srgbClr val="1E2D3D"/>
                </a:solidFill>
              </a:rPr>
              <a:t>Smart meters, grid load balancing, demand forecasting</a:t>
            </a:r>
            <a:endParaRPr lang="en-US" sz="1050" dirty="0"/>
          </a:p>
        </p:txBody>
      </p:sp>
      <p:sp>
        <p:nvSpPr>
          <p:cNvPr id="18" name="Shape 16"/>
          <p:cNvSpPr/>
          <p:nvPr/>
        </p:nvSpPr>
        <p:spPr>
          <a:xfrm>
            <a:off x="5669280" y="1005840"/>
            <a:ext cx="3108960" cy="1828800"/>
          </a:xfrm>
          <a:prstGeom prst="rect">
            <a:avLst/>
          </a:prstGeom>
          <a:solidFill>
            <a:srgbClr val="0A2342"/>
          </a:solidFill>
          <a:ln/>
          <a:effectLst>
            <a:outerShdw blurRad="101600" dist="38100" dir="8100000" algn="bl" rotWithShape="0">
              <a:srgbClr val="000000">
                <a:alpha val="12000"/>
              </a:srgbClr>
            </a:outerShdw>
          </a:effectLst>
        </p:spPr>
      </p:sp>
      <p:sp>
        <p:nvSpPr>
          <p:cNvPr id="19" name="Text 17"/>
          <p:cNvSpPr/>
          <p:nvPr/>
        </p:nvSpPr>
        <p:spPr>
          <a:xfrm>
            <a:off x="5669280" y="1005840"/>
            <a:ext cx="3108960" cy="347472"/>
          </a:xfrm>
          <a:prstGeom prst="rect">
            <a:avLst/>
          </a:prstGeom>
          <a:noFill/>
          <a:ln/>
        </p:spPr>
        <p:txBody>
          <a:bodyPr wrap="square" lIns="0" tIns="0" rIns="0" bIns="0" rtlCol="0" anchor="ctr"/>
          <a:lstStyle/>
          <a:p>
            <a:pPr marL="0" indent="0" algn="ctr">
              <a:buNone/>
            </a:pPr>
            <a:r>
              <a:rPr lang="en-US" sz="1100" b="1" dirty="0">
                <a:solidFill>
                  <a:srgbClr val="02C39A"/>
                </a:solidFill>
              </a:rPr>
              <a:t>KEY FACTS</a:t>
            </a:r>
            <a:endParaRPr lang="en-US" sz="1100" dirty="0"/>
          </a:p>
        </p:txBody>
      </p:sp>
      <p:sp>
        <p:nvSpPr>
          <p:cNvPr id="20" name="Text 18"/>
          <p:cNvSpPr/>
          <p:nvPr/>
        </p:nvSpPr>
        <p:spPr>
          <a:xfrm>
            <a:off x="5760720" y="1417320"/>
            <a:ext cx="1097280" cy="411480"/>
          </a:xfrm>
          <a:prstGeom prst="rect">
            <a:avLst/>
          </a:prstGeom>
          <a:noFill/>
          <a:ln/>
        </p:spPr>
        <p:txBody>
          <a:bodyPr wrap="square" lIns="0" tIns="0" rIns="0" bIns="0" rtlCol="0" anchor="ctr"/>
          <a:lstStyle/>
          <a:p>
            <a:pPr marL="0" indent="0">
              <a:buNone/>
            </a:pPr>
            <a:r>
              <a:rPr lang="en-US" sz="2200" b="1" dirty="0">
                <a:solidFill>
                  <a:srgbClr val="02C39A"/>
                </a:solidFill>
              </a:rPr>
              <a:t>68%</a:t>
            </a:r>
            <a:endParaRPr lang="en-US" sz="2200" dirty="0"/>
          </a:p>
        </p:txBody>
      </p:sp>
      <p:sp>
        <p:nvSpPr>
          <p:cNvPr id="21" name="Text 19"/>
          <p:cNvSpPr/>
          <p:nvPr/>
        </p:nvSpPr>
        <p:spPr>
          <a:xfrm>
            <a:off x="6903720" y="1417320"/>
            <a:ext cx="1737360" cy="411480"/>
          </a:xfrm>
          <a:prstGeom prst="rect">
            <a:avLst/>
          </a:prstGeom>
          <a:noFill/>
          <a:ln/>
        </p:spPr>
        <p:txBody>
          <a:bodyPr wrap="square" lIns="0" tIns="0" rIns="0" bIns="0" rtlCol="0" anchor="ctr"/>
          <a:lstStyle/>
          <a:p>
            <a:pPr marL="0" indent="0">
              <a:buNone/>
            </a:pPr>
            <a:r>
              <a:rPr lang="en-US" sz="900" dirty="0">
                <a:solidFill>
                  <a:srgbClr val="E8F4F8"/>
                </a:solidFill>
              </a:rPr>
              <a:t>World pop. urban by 2050</a:t>
            </a:r>
            <a:endParaRPr lang="en-US" sz="900" dirty="0"/>
          </a:p>
        </p:txBody>
      </p:sp>
      <p:sp>
        <p:nvSpPr>
          <p:cNvPr id="22" name="Text 20"/>
          <p:cNvSpPr/>
          <p:nvPr/>
        </p:nvSpPr>
        <p:spPr>
          <a:xfrm>
            <a:off x="5760720" y="1920240"/>
            <a:ext cx="1097280" cy="411480"/>
          </a:xfrm>
          <a:prstGeom prst="rect">
            <a:avLst/>
          </a:prstGeom>
          <a:noFill/>
          <a:ln/>
        </p:spPr>
        <p:txBody>
          <a:bodyPr wrap="square" lIns="0" tIns="0" rIns="0" bIns="0" rtlCol="0" anchor="ctr"/>
          <a:lstStyle/>
          <a:p>
            <a:pPr marL="0" indent="0">
              <a:buNone/>
            </a:pPr>
            <a:r>
              <a:rPr lang="en-US" sz="2200" b="1" dirty="0">
                <a:solidFill>
                  <a:srgbClr val="02C39A"/>
                </a:solidFill>
              </a:rPr>
              <a:t>50 B+</a:t>
            </a:r>
            <a:endParaRPr lang="en-US" sz="2200" dirty="0"/>
          </a:p>
        </p:txBody>
      </p:sp>
      <p:sp>
        <p:nvSpPr>
          <p:cNvPr id="23" name="Text 21"/>
          <p:cNvSpPr/>
          <p:nvPr/>
        </p:nvSpPr>
        <p:spPr>
          <a:xfrm>
            <a:off x="6903720" y="1920240"/>
            <a:ext cx="1737360" cy="411480"/>
          </a:xfrm>
          <a:prstGeom prst="rect">
            <a:avLst/>
          </a:prstGeom>
          <a:noFill/>
          <a:ln/>
        </p:spPr>
        <p:txBody>
          <a:bodyPr wrap="square" lIns="0" tIns="0" rIns="0" bIns="0" rtlCol="0" anchor="ctr"/>
          <a:lstStyle/>
          <a:p>
            <a:pPr marL="0" indent="0">
              <a:buNone/>
            </a:pPr>
            <a:r>
              <a:rPr lang="en-US" sz="900" dirty="0">
                <a:solidFill>
                  <a:srgbClr val="E8F4F8"/>
                </a:solidFill>
              </a:rPr>
              <a:t>IoT devices globally</a:t>
            </a:r>
            <a:endParaRPr lang="en-US" sz="900" dirty="0"/>
          </a:p>
        </p:txBody>
      </p:sp>
      <p:sp>
        <p:nvSpPr>
          <p:cNvPr id="24" name="Text 22"/>
          <p:cNvSpPr/>
          <p:nvPr/>
        </p:nvSpPr>
        <p:spPr>
          <a:xfrm>
            <a:off x="5760720" y="2423160"/>
            <a:ext cx="1097280" cy="411480"/>
          </a:xfrm>
          <a:prstGeom prst="rect">
            <a:avLst/>
          </a:prstGeom>
          <a:noFill/>
          <a:ln/>
        </p:spPr>
        <p:txBody>
          <a:bodyPr wrap="square" lIns="0" tIns="0" rIns="0" bIns="0" rtlCol="0" anchor="ctr"/>
          <a:lstStyle/>
          <a:p>
            <a:pPr marL="0" indent="0">
              <a:buNone/>
            </a:pPr>
            <a:r>
              <a:rPr lang="en-US" sz="2200" b="1" dirty="0">
                <a:solidFill>
                  <a:srgbClr val="02C39A"/>
                </a:solidFill>
              </a:rPr>
              <a:t>2.5 EB</a:t>
            </a:r>
            <a:endParaRPr lang="en-US" sz="2200" dirty="0"/>
          </a:p>
        </p:txBody>
      </p:sp>
      <p:sp>
        <p:nvSpPr>
          <p:cNvPr id="25" name="Text 23"/>
          <p:cNvSpPr/>
          <p:nvPr/>
        </p:nvSpPr>
        <p:spPr>
          <a:xfrm>
            <a:off x="6903720" y="2423160"/>
            <a:ext cx="1737360" cy="411480"/>
          </a:xfrm>
          <a:prstGeom prst="rect">
            <a:avLst/>
          </a:prstGeom>
          <a:noFill/>
          <a:ln/>
        </p:spPr>
        <p:txBody>
          <a:bodyPr wrap="square" lIns="0" tIns="0" rIns="0" bIns="0" rtlCol="0" anchor="ctr"/>
          <a:lstStyle/>
          <a:p>
            <a:pPr marL="0" indent="0">
              <a:buNone/>
            </a:pPr>
            <a:r>
              <a:rPr lang="en-US" sz="900" dirty="0">
                <a:solidFill>
                  <a:srgbClr val="E8F4F8"/>
                </a:solidFill>
              </a:rPr>
              <a:t>Data created per day</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2342"/>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2C39A"/>
          </a:solidFill>
          <a:ln/>
        </p:spPr>
      </p:sp>
      <p:sp>
        <p:nvSpPr>
          <p:cNvPr id="3" name="Text 1"/>
          <p:cNvSpPr/>
          <p:nvPr/>
        </p:nvSpPr>
        <p:spPr>
          <a:xfrm>
            <a:off x="365760" y="228600"/>
            <a:ext cx="8229600" cy="548640"/>
          </a:xfrm>
          <a:prstGeom prst="rect">
            <a:avLst/>
          </a:prstGeom>
          <a:noFill/>
          <a:ln/>
        </p:spPr>
        <p:txBody>
          <a:bodyPr wrap="square" lIns="0" tIns="0" rIns="0" bIns="0" rtlCol="0" anchor="ctr"/>
          <a:lstStyle/>
          <a:p>
            <a:pPr marL="0" indent="0">
              <a:buNone/>
            </a:pPr>
            <a:r>
              <a:rPr lang="en-US" sz="2200" b="1" dirty="0">
                <a:solidFill>
                  <a:srgbClr val="FFFFFF"/>
                </a:solidFill>
              </a:rPr>
              <a:t>02  |  PROBLEM STATEMENT</a:t>
            </a:r>
            <a:endParaRPr lang="en-US" sz="2200" dirty="0"/>
          </a:p>
        </p:txBody>
      </p:sp>
      <p:sp>
        <p:nvSpPr>
          <p:cNvPr id="4" name="Shape 2"/>
          <p:cNvSpPr/>
          <p:nvPr/>
        </p:nvSpPr>
        <p:spPr>
          <a:xfrm>
            <a:off x="320040" y="960120"/>
            <a:ext cx="4206240" cy="1691640"/>
          </a:xfrm>
          <a:prstGeom prst="rect">
            <a:avLst/>
          </a:prstGeom>
          <a:solidFill>
            <a:srgbClr val="065A82"/>
          </a:solidFill>
          <a:ln/>
          <a:effectLst>
            <a:outerShdw blurRad="101600" dist="38100" dir="8100000" algn="bl" rotWithShape="0">
              <a:srgbClr val="000000">
                <a:alpha val="12000"/>
              </a:srgbClr>
            </a:outerShdw>
          </a:effectLst>
        </p:spPr>
      </p:sp>
      <p:sp>
        <p:nvSpPr>
          <p:cNvPr id="5" name="Text 3"/>
          <p:cNvSpPr/>
          <p:nvPr/>
        </p:nvSpPr>
        <p:spPr>
          <a:xfrm>
            <a:off x="457200" y="1069848"/>
            <a:ext cx="3931920" cy="365760"/>
          </a:xfrm>
          <a:prstGeom prst="rect">
            <a:avLst/>
          </a:prstGeom>
          <a:noFill/>
          <a:ln/>
        </p:spPr>
        <p:txBody>
          <a:bodyPr wrap="square" lIns="0" tIns="0" rIns="0" bIns="0" rtlCol="0" anchor="ctr"/>
          <a:lstStyle/>
          <a:p>
            <a:pPr marL="0" indent="0">
              <a:buNone/>
            </a:pPr>
            <a:r>
              <a:rPr lang="en-US" sz="1300" b="1" dirty="0">
                <a:solidFill>
                  <a:srgbClr val="02C39A"/>
                </a:solidFill>
              </a:rPr>
              <a:t>🗑️  Waste Management</a:t>
            </a:r>
            <a:endParaRPr lang="en-US" sz="1300" dirty="0"/>
          </a:p>
        </p:txBody>
      </p:sp>
      <p:sp>
        <p:nvSpPr>
          <p:cNvPr id="6" name="Text 4"/>
          <p:cNvSpPr/>
          <p:nvPr/>
        </p:nvSpPr>
        <p:spPr>
          <a:xfrm>
            <a:off x="457200" y="1463040"/>
            <a:ext cx="3931920" cy="1097280"/>
          </a:xfrm>
          <a:prstGeom prst="rect">
            <a:avLst/>
          </a:prstGeom>
          <a:noFill/>
          <a:ln/>
        </p:spPr>
        <p:txBody>
          <a:bodyPr wrap="square" lIns="0" tIns="0" rIns="0" bIns="0" rtlCol="0" anchor="ctr"/>
          <a:lstStyle/>
          <a:p>
            <a:pPr marL="0" indent="0">
              <a:buNone/>
            </a:pPr>
            <a:r>
              <a:rPr lang="en-US" sz="1100" dirty="0">
                <a:solidFill>
                  <a:srgbClr val="E8F4F8"/>
                </a:solidFill>
              </a:rPr>
              <a:t>Overflow bins, inefficient collection routes, rising urban waste at 2.1 B tonnes/year worldwide.</a:t>
            </a:r>
            <a:endParaRPr lang="en-US" sz="1100" dirty="0"/>
          </a:p>
        </p:txBody>
      </p:sp>
      <p:sp>
        <p:nvSpPr>
          <p:cNvPr id="7" name="Shape 5"/>
          <p:cNvSpPr/>
          <p:nvPr/>
        </p:nvSpPr>
        <p:spPr>
          <a:xfrm>
            <a:off x="4846320" y="960120"/>
            <a:ext cx="4206240" cy="1691640"/>
          </a:xfrm>
          <a:prstGeom prst="rect">
            <a:avLst/>
          </a:prstGeom>
          <a:solidFill>
            <a:srgbClr val="065A82"/>
          </a:solidFill>
          <a:ln/>
          <a:effectLst>
            <a:outerShdw blurRad="101600" dist="38100" dir="8100000" algn="bl" rotWithShape="0">
              <a:srgbClr val="000000">
                <a:alpha val="12000"/>
              </a:srgbClr>
            </a:outerShdw>
          </a:effectLst>
        </p:spPr>
      </p:sp>
      <p:sp>
        <p:nvSpPr>
          <p:cNvPr id="8" name="Text 6"/>
          <p:cNvSpPr/>
          <p:nvPr/>
        </p:nvSpPr>
        <p:spPr>
          <a:xfrm>
            <a:off x="4983480" y="1069848"/>
            <a:ext cx="3931920" cy="365760"/>
          </a:xfrm>
          <a:prstGeom prst="rect">
            <a:avLst/>
          </a:prstGeom>
          <a:noFill/>
          <a:ln/>
        </p:spPr>
        <p:txBody>
          <a:bodyPr wrap="square" lIns="0" tIns="0" rIns="0" bIns="0" rtlCol="0" anchor="ctr"/>
          <a:lstStyle/>
          <a:p>
            <a:pPr marL="0" indent="0">
              <a:buNone/>
            </a:pPr>
            <a:r>
              <a:rPr lang="en-US" sz="1300" b="1" dirty="0">
                <a:solidFill>
                  <a:srgbClr val="02C39A"/>
                </a:solidFill>
              </a:rPr>
              <a:t>🚦  Traffic Congestion</a:t>
            </a:r>
            <a:endParaRPr lang="en-US" sz="1300" dirty="0"/>
          </a:p>
        </p:txBody>
      </p:sp>
      <p:sp>
        <p:nvSpPr>
          <p:cNvPr id="9" name="Text 7"/>
          <p:cNvSpPr/>
          <p:nvPr/>
        </p:nvSpPr>
        <p:spPr>
          <a:xfrm>
            <a:off x="4983480" y="1463040"/>
            <a:ext cx="3931920" cy="1097280"/>
          </a:xfrm>
          <a:prstGeom prst="rect">
            <a:avLst/>
          </a:prstGeom>
          <a:noFill/>
          <a:ln/>
        </p:spPr>
        <p:txBody>
          <a:bodyPr wrap="square" lIns="0" tIns="0" rIns="0" bIns="0" rtlCol="0" anchor="ctr"/>
          <a:lstStyle/>
          <a:p>
            <a:pPr marL="0" indent="0">
              <a:buNone/>
            </a:pPr>
            <a:r>
              <a:rPr lang="en-US" sz="1100" dirty="0">
                <a:solidFill>
                  <a:srgbClr val="E8F4F8"/>
                </a:solidFill>
              </a:rPr>
              <a:t>Indian cities lose ₹1.5 lakh crore/year; Nagpur faces 35% peak-hour slowdowns.</a:t>
            </a:r>
            <a:endParaRPr lang="en-US" sz="1100" dirty="0"/>
          </a:p>
        </p:txBody>
      </p:sp>
      <p:sp>
        <p:nvSpPr>
          <p:cNvPr id="10" name="Shape 8"/>
          <p:cNvSpPr/>
          <p:nvPr/>
        </p:nvSpPr>
        <p:spPr>
          <a:xfrm>
            <a:off x="320040" y="2880360"/>
            <a:ext cx="4206240" cy="1691640"/>
          </a:xfrm>
          <a:prstGeom prst="rect">
            <a:avLst/>
          </a:prstGeom>
          <a:solidFill>
            <a:srgbClr val="065A82"/>
          </a:solidFill>
          <a:ln/>
          <a:effectLst>
            <a:outerShdw blurRad="101600" dist="38100" dir="8100000" algn="bl" rotWithShape="0">
              <a:srgbClr val="000000">
                <a:alpha val="12000"/>
              </a:srgbClr>
            </a:outerShdw>
          </a:effectLst>
        </p:spPr>
      </p:sp>
      <p:sp>
        <p:nvSpPr>
          <p:cNvPr id="11" name="Text 9"/>
          <p:cNvSpPr/>
          <p:nvPr/>
        </p:nvSpPr>
        <p:spPr>
          <a:xfrm>
            <a:off x="457200" y="2990088"/>
            <a:ext cx="3931920" cy="365760"/>
          </a:xfrm>
          <a:prstGeom prst="rect">
            <a:avLst/>
          </a:prstGeom>
          <a:noFill/>
          <a:ln/>
        </p:spPr>
        <p:txBody>
          <a:bodyPr wrap="square" lIns="0" tIns="0" rIns="0" bIns="0" rtlCol="0" anchor="ctr"/>
          <a:lstStyle/>
          <a:p>
            <a:pPr marL="0" indent="0">
              <a:buNone/>
            </a:pPr>
            <a:r>
              <a:rPr lang="en-US" sz="1300" b="1" dirty="0">
                <a:solidFill>
                  <a:srgbClr val="02C39A"/>
                </a:solidFill>
              </a:rPr>
              <a:t>⚡  Energy Inefficiency</a:t>
            </a:r>
            <a:endParaRPr lang="en-US" sz="1300" dirty="0"/>
          </a:p>
        </p:txBody>
      </p:sp>
      <p:sp>
        <p:nvSpPr>
          <p:cNvPr id="12" name="Text 10"/>
          <p:cNvSpPr/>
          <p:nvPr/>
        </p:nvSpPr>
        <p:spPr>
          <a:xfrm>
            <a:off x="457200" y="3383280"/>
            <a:ext cx="3931920" cy="1097280"/>
          </a:xfrm>
          <a:prstGeom prst="rect">
            <a:avLst/>
          </a:prstGeom>
          <a:noFill/>
          <a:ln/>
        </p:spPr>
        <p:txBody>
          <a:bodyPr wrap="square" lIns="0" tIns="0" rIns="0" bIns="0" rtlCol="0" anchor="ctr"/>
          <a:lstStyle/>
          <a:p>
            <a:pPr marL="0" indent="0">
              <a:buNone/>
            </a:pPr>
            <a:r>
              <a:rPr lang="en-US" sz="1100" dirty="0">
                <a:solidFill>
                  <a:srgbClr val="E8F4F8"/>
                </a:solidFill>
              </a:rPr>
              <a:t>Unbalanced grid loads, 25% distribution losses in developing cities, no demand prediction.</a:t>
            </a:r>
            <a:endParaRPr lang="en-US" sz="1100" dirty="0"/>
          </a:p>
        </p:txBody>
      </p:sp>
      <p:sp>
        <p:nvSpPr>
          <p:cNvPr id="13" name="Shape 11"/>
          <p:cNvSpPr/>
          <p:nvPr/>
        </p:nvSpPr>
        <p:spPr>
          <a:xfrm>
            <a:off x="4846320" y="2880360"/>
            <a:ext cx="4206240" cy="1691640"/>
          </a:xfrm>
          <a:prstGeom prst="rect">
            <a:avLst/>
          </a:prstGeom>
          <a:solidFill>
            <a:srgbClr val="065A82"/>
          </a:solidFill>
          <a:ln/>
          <a:effectLst>
            <a:outerShdw blurRad="101600" dist="38100" dir="8100000" algn="bl" rotWithShape="0">
              <a:srgbClr val="000000">
                <a:alpha val="12000"/>
              </a:srgbClr>
            </a:outerShdw>
          </a:effectLst>
        </p:spPr>
      </p:sp>
      <p:sp>
        <p:nvSpPr>
          <p:cNvPr id="14" name="Text 12"/>
          <p:cNvSpPr/>
          <p:nvPr/>
        </p:nvSpPr>
        <p:spPr>
          <a:xfrm>
            <a:off x="4983480" y="2990088"/>
            <a:ext cx="3931920" cy="365760"/>
          </a:xfrm>
          <a:prstGeom prst="rect">
            <a:avLst/>
          </a:prstGeom>
          <a:noFill/>
          <a:ln/>
        </p:spPr>
        <p:txBody>
          <a:bodyPr wrap="square" lIns="0" tIns="0" rIns="0" bIns="0" rtlCol="0" anchor="ctr"/>
          <a:lstStyle/>
          <a:p>
            <a:pPr marL="0" indent="0">
              <a:buNone/>
            </a:pPr>
            <a:r>
              <a:rPr lang="en-US" sz="1300" b="1" dirty="0">
                <a:solidFill>
                  <a:srgbClr val="02C39A"/>
                </a:solidFill>
              </a:rPr>
              <a:t>📊  Lack of Integration</a:t>
            </a:r>
            <a:endParaRPr lang="en-US" sz="1300" dirty="0"/>
          </a:p>
        </p:txBody>
      </p:sp>
      <p:sp>
        <p:nvSpPr>
          <p:cNvPr id="15" name="Text 13"/>
          <p:cNvSpPr/>
          <p:nvPr/>
        </p:nvSpPr>
        <p:spPr>
          <a:xfrm>
            <a:off x="4983480" y="3383280"/>
            <a:ext cx="3931920" cy="1097280"/>
          </a:xfrm>
          <a:prstGeom prst="rect">
            <a:avLst/>
          </a:prstGeom>
          <a:noFill/>
          <a:ln/>
        </p:spPr>
        <p:txBody>
          <a:bodyPr wrap="square" lIns="0" tIns="0" rIns="0" bIns="0" rtlCol="0" anchor="ctr"/>
          <a:lstStyle/>
          <a:p>
            <a:pPr marL="0" indent="0">
              <a:buNone/>
            </a:pPr>
            <a:r>
              <a:rPr lang="en-US" sz="1100" dirty="0">
                <a:solidFill>
                  <a:srgbClr val="E8F4F8"/>
                </a:solidFill>
              </a:rPr>
              <a:t>Siloed systems with no unified analytics — decisions are reactive rather than proactive.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C7293"/>
          </a:solidFill>
          <a:ln/>
        </p:spPr>
      </p:sp>
      <p:sp>
        <p:nvSpPr>
          <p:cNvPr id="3" name="Text 1"/>
          <p:cNvSpPr/>
          <p:nvPr/>
        </p:nvSpPr>
        <p:spPr>
          <a:xfrm>
            <a:off x="365760" y="0"/>
            <a:ext cx="8229600" cy="914400"/>
          </a:xfrm>
          <a:prstGeom prst="rect">
            <a:avLst/>
          </a:prstGeom>
          <a:noFill/>
          <a:ln/>
        </p:spPr>
        <p:txBody>
          <a:bodyPr wrap="square" lIns="0" tIns="0" rIns="0" bIns="0" rtlCol="0" anchor="ctr"/>
          <a:lstStyle/>
          <a:p>
            <a:pPr marL="0" indent="0">
              <a:buNone/>
            </a:pPr>
            <a:r>
              <a:rPr lang="en-US" sz="2200" b="1" dirty="0">
                <a:solidFill>
                  <a:srgbClr val="FFFFFF"/>
                </a:solidFill>
              </a:rPr>
              <a:t>03  |  DATA USED</a:t>
            </a:r>
            <a:endParaRPr lang="en-US" sz="2200" dirty="0"/>
          </a:p>
        </p:txBody>
      </p:sp>
      <p:sp>
        <p:nvSpPr>
          <p:cNvPr id="4" name="Shape 2"/>
          <p:cNvSpPr/>
          <p:nvPr/>
        </p:nvSpPr>
        <p:spPr>
          <a:xfrm>
            <a:off x="320040" y="1051560"/>
            <a:ext cx="1645920" cy="384048"/>
          </a:xfrm>
          <a:prstGeom prst="rect">
            <a:avLst/>
          </a:prstGeom>
          <a:solidFill>
            <a:srgbClr val="0A2342"/>
          </a:solidFill>
          <a:ln/>
        </p:spPr>
      </p:sp>
      <p:sp>
        <p:nvSpPr>
          <p:cNvPr id="5" name="Text 3"/>
          <p:cNvSpPr/>
          <p:nvPr/>
        </p:nvSpPr>
        <p:spPr>
          <a:xfrm>
            <a:off x="320040" y="1051560"/>
            <a:ext cx="1645920" cy="384048"/>
          </a:xfrm>
          <a:prstGeom prst="rect">
            <a:avLst/>
          </a:prstGeom>
          <a:noFill/>
          <a:ln/>
        </p:spPr>
        <p:txBody>
          <a:bodyPr wrap="square" lIns="0" tIns="0" rIns="0" bIns="0" rtlCol="0" anchor="ctr"/>
          <a:lstStyle/>
          <a:p>
            <a:pPr marL="0" indent="0" algn="ctr">
              <a:buNone/>
            </a:pPr>
            <a:r>
              <a:rPr lang="en-US" sz="1100" b="1" dirty="0">
                <a:solidFill>
                  <a:srgbClr val="02C39A"/>
                </a:solidFill>
              </a:rPr>
              <a:t>Domain</a:t>
            </a:r>
            <a:endParaRPr lang="en-US" sz="1100" dirty="0"/>
          </a:p>
        </p:txBody>
      </p:sp>
      <p:sp>
        <p:nvSpPr>
          <p:cNvPr id="6" name="Shape 4"/>
          <p:cNvSpPr/>
          <p:nvPr/>
        </p:nvSpPr>
        <p:spPr>
          <a:xfrm>
            <a:off x="1984248" y="1051560"/>
            <a:ext cx="2560320" cy="384048"/>
          </a:xfrm>
          <a:prstGeom prst="rect">
            <a:avLst/>
          </a:prstGeom>
          <a:solidFill>
            <a:srgbClr val="0A2342"/>
          </a:solidFill>
          <a:ln/>
        </p:spPr>
      </p:sp>
      <p:sp>
        <p:nvSpPr>
          <p:cNvPr id="7" name="Text 5"/>
          <p:cNvSpPr/>
          <p:nvPr/>
        </p:nvSpPr>
        <p:spPr>
          <a:xfrm>
            <a:off x="1984248" y="1051560"/>
            <a:ext cx="2560320" cy="384048"/>
          </a:xfrm>
          <a:prstGeom prst="rect">
            <a:avLst/>
          </a:prstGeom>
          <a:noFill/>
          <a:ln/>
        </p:spPr>
        <p:txBody>
          <a:bodyPr wrap="square" lIns="0" tIns="0" rIns="0" bIns="0" rtlCol="0" anchor="ctr"/>
          <a:lstStyle/>
          <a:p>
            <a:pPr marL="0" indent="0" algn="ctr">
              <a:buNone/>
            </a:pPr>
            <a:r>
              <a:rPr lang="en-US" sz="1100" b="1" dirty="0">
                <a:solidFill>
                  <a:srgbClr val="02C39A"/>
                </a:solidFill>
              </a:rPr>
              <a:t>Data Type</a:t>
            </a:r>
            <a:endParaRPr lang="en-US" sz="1100" dirty="0"/>
          </a:p>
        </p:txBody>
      </p:sp>
      <p:sp>
        <p:nvSpPr>
          <p:cNvPr id="8" name="Shape 6"/>
          <p:cNvSpPr/>
          <p:nvPr/>
        </p:nvSpPr>
        <p:spPr>
          <a:xfrm>
            <a:off x="4562856" y="1051560"/>
            <a:ext cx="2926080" cy="384048"/>
          </a:xfrm>
          <a:prstGeom prst="rect">
            <a:avLst/>
          </a:prstGeom>
          <a:solidFill>
            <a:srgbClr val="0A2342"/>
          </a:solidFill>
          <a:ln/>
        </p:spPr>
      </p:sp>
      <p:sp>
        <p:nvSpPr>
          <p:cNvPr id="9" name="Text 7"/>
          <p:cNvSpPr/>
          <p:nvPr/>
        </p:nvSpPr>
        <p:spPr>
          <a:xfrm>
            <a:off x="4562856" y="1051560"/>
            <a:ext cx="2926080" cy="384048"/>
          </a:xfrm>
          <a:prstGeom prst="rect">
            <a:avLst/>
          </a:prstGeom>
          <a:noFill/>
          <a:ln/>
        </p:spPr>
        <p:txBody>
          <a:bodyPr wrap="square" lIns="0" tIns="0" rIns="0" bIns="0" rtlCol="0" anchor="ctr"/>
          <a:lstStyle/>
          <a:p>
            <a:pPr marL="0" indent="0" algn="ctr">
              <a:buNone/>
            </a:pPr>
            <a:r>
              <a:rPr lang="en-US" sz="1100" b="1" dirty="0">
                <a:solidFill>
                  <a:srgbClr val="02C39A"/>
                </a:solidFill>
              </a:rPr>
              <a:t>Source</a:t>
            </a:r>
            <a:endParaRPr lang="en-US" sz="1100" dirty="0"/>
          </a:p>
        </p:txBody>
      </p:sp>
      <p:sp>
        <p:nvSpPr>
          <p:cNvPr id="10" name="Shape 8"/>
          <p:cNvSpPr/>
          <p:nvPr/>
        </p:nvSpPr>
        <p:spPr>
          <a:xfrm>
            <a:off x="7507224" y="1051560"/>
            <a:ext cx="1645920" cy="384048"/>
          </a:xfrm>
          <a:prstGeom prst="rect">
            <a:avLst/>
          </a:prstGeom>
          <a:solidFill>
            <a:srgbClr val="0A2342"/>
          </a:solidFill>
          <a:ln/>
        </p:spPr>
      </p:sp>
      <p:sp>
        <p:nvSpPr>
          <p:cNvPr id="11" name="Text 9"/>
          <p:cNvSpPr/>
          <p:nvPr/>
        </p:nvSpPr>
        <p:spPr>
          <a:xfrm>
            <a:off x="7507224" y="1051560"/>
            <a:ext cx="1645920" cy="384048"/>
          </a:xfrm>
          <a:prstGeom prst="rect">
            <a:avLst/>
          </a:prstGeom>
          <a:noFill/>
          <a:ln/>
        </p:spPr>
        <p:txBody>
          <a:bodyPr wrap="square" lIns="0" tIns="0" rIns="0" bIns="0" rtlCol="0" anchor="ctr"/>
          <a:lstStyle/>
          <a:p>
            <a:pPr marL="0" indent="0" algn="ctr">
              <a:buNone/>
            </a:pPr>
            <a:r>
              <a:rPr lang="en-US" sz="1100" b="1" dirty="0">
                <a:solidFill>
                  <a:srgbClr val="02C39A"/>
                </a:solidFill>
              </a:rPr>
              <a:t>Volume</a:t>
            </a:r>
            <a:endParaRPr lang="en-US" sz="1100" dirty="0"/>
          </a:p>
        </p:txBody>
      </p:sp>
      <p:sp>
        <p:nvSpPr>
          <p:cNvPr id="12" name="Shape 10"/>
          <p:cNvSpPr/>
          <p:nvPr/>
        </p:nvSpPr>
        <p:spPr>
          <a:xfrm>
            <a:off x="320040" y="1453896"/>
            <a:ext cx="1645920" cy="621792"/>
          </a:xfrm>
          <a:prstGeom prst="rect">
            <a:avLst/>
          </a:prstGeom>
          <a:solidFill>
            <a:srgbClr val="FFFFFF"/>
          </a:solidFill>
          <a:ln/>
        </p:spPr>
      </p:sp>
      <p:sp>
        <p:nvSpPr>
          <p:cNvPr id="13" name="Text 11"/>
          <p:cNvSpPr/>
          <p:nvPr/>
        </p:nvSpPr>
        <p:spPr>
          <a:xfrm>
            <a:off x="365760" y="1453896"/>
            <a:ext cx="1554480" cy="621792"/>
          </a:xfrm>
          <a:prstGeom prst="rect">
            <a:avLst/>
          </a:prstGeom>
          <a:noFill/>
          <a:ln/>
        </p:spPr>
        <p:txBody>
          <a:bodyPr wrap="square" lIns="0" tIns="0" rIns="0" bIns="0" rtlCol="0" anchor="ctr"/>
          <a:lstStyle/>
          <a:p>
            <a:pPr marL="0" indent="0">
              <a:buNone/>
            </a:pPr>
            <a:r>
              <a:rPr lang="en-US" sz="1000" dirty="0">
                <a:solidFill>
                  <a:srgbClr val="1E2D3D"/>
                </a:solidFill>
              </a:rPr>
              <a:t>Waste</a:t>
            </a:r>
            <a:endParaRPr lang="en-US" sz="1000" dirty="0"/>
          </a:p>
        </p:txBody>
      </p:sp>
      <p:sp>
        <p:nvSpPr>
          <p:cNvPr id="14" name="Shape 12"/>
          <p:cNvSpPr/>
          <p:nvPr/>
        </p:nvSpPr>
        <p:spPr>
          <a:xfrm>
            <a:off x="1984248" y="1453896"/>
            <a:ext cx="2560320" cy="621792"/>
          </a:xfrm>
          <a:prstGeom prst="rect">
            <a:avLst/>
          </a:prstGeom>
          <a:solidFill>
            <a:srgbClr val="FFFFFF"/>
          </a:solidFill>
          <a:ln/>
        </p:spPr>
      </p:sp>
      <p:sp>
        <p:nvSpPr>
          <p:cNvPr id="15" name="Text 13"/>
          <p:cNvSpPr/>
          <p:nvPr/>
        </p:nvSpPr>
        <p:spPr>
          <a:xfrm>
            <a:off x="2029968" y="1453896"/>
            <a:ext cx="2468880" cy="621792"/>
          </a:xfrm>
          <a:prstGeom prst="rect">
            <a:avLst/>
          </a:prstGeom>
          <a:noFill/>
          <a:ln/>
        </p:spPr>
        <p:txBody>
          <a:bodyPr wrap="square" lIns="0" tIns="0" rIns="0" bIns="0" rtlCol="0" anchor="ctr"/>
          <a:lstStyle/>
          <a:p>
            <a:pPr marL="0" indent="0">
              <a:buNone/>
            </a:pPr>
            <a:r>
              <a:rPr lang="en-US" sz="1000" dirty="0">
                <a:solidFill>
                  <a:srgbClr val="1E2D3D"/>
                </a:solidFill>
              </a:rPr>
              <a:t>Sensor fill-level, GPS routes</a:t>
            </a:r>
            <a:endParaRPr lang="en-US" sz="1000" dirty="0"/>
          </a:p>
        </p:txBody>
      </p:sp>
      <p:sp>
        <p:nvSpPr>
          <p:cNvPr id="16" name="Shape 14"/>
          <p:cNvSpPr/>
          <p:nvPr/>
        </p:nvSpPr>
        <p:spPr>
          <a:xfrm>
            <a:off x="4562856" y="1453896"/>
            <a:ext cx="2926080" cy="621792"/>
          </a:xfrm>
          <a:prstGeom prst="rect">
            <a:avLst/>
          </a:prstGeom>
          <a:solidFill>
            <a:srgbClr val="FFFFFF"/>
          </a:solidFill>
          <a:ln/>
        </p:spPr>
      </p:sp>
      <p:sp>
        <p:nvSpPr>
          <p:cNvPr id="17" name="Text 15"/>
          <p:cNvSpPr/>
          <p:nvPr/>
        </p:nvSpPr>
        <p:spPr>
          <a:xfrm>
            <a:off x="4608576" y="1453896"/>
            <a:ext cx="2834640" cy="621792"/>
          </a:xfrm>
          <a:prstGeom prst="rect">
            <a:avLst/>
          </a:prstGeom>
          <a:noFill/>
          <a:ln/>
        </p:spPr>
        <p:txBody>
          <a:bodyPr wrap="square" lIns="0" tIns="0" rIns="0" bIns="0" rtlCol="0" anchor="ctr"/>
          <a:lstStyle/>
          <a:p>
            <a:pPr marL="0" indent="0">
              <a:buNone/>
            </a:pPr>
            <a:r>
              <a:rPr lang="en-US" sz="1000" dirty="0">
                <a:solidFill>
                  <a:srgbClr val="1E2D3D"/>
                </a:solidFill>
              </a:rPr>
              <a:t>IoT bin sensors, Municipal APIs</a:t>
            </a:r>
            <a:endParaRPr lang="en-US" sz="1000" dirty="0"/>
          </a:p>
        </p:txBody>
      </p:sp>
      <p:sp>
        <p:nvSpPr>
          <p:cNvPr id="18" name="Shape 16"/>
          <p:cNvSpPr/>
          <p:nvPr/>
        </p:nvSpPr>
        <p:spPr>
          <a:xfrm>
            <a:off x="7507224" y="1453896"/>
            <a:ext cx="1645920" cy="621792"/>
          </a:xfrm>
          <a:prstGeom prst="rect">
            <a:avLst/>
          </a:prstGeom>
          <a:solidFill>
            <a:srgbClr val="FFFFFF"/>
          </a:solidFill>
          <a:ln/>
        </p:spPr>
      </p:sp>
      <p:sp>
        <p:nvSpPr>
          <p:cNvPr id="19" name="Text 17"/>
          <p:cNvSpPr/>
          <p:nvPr/>
        </p:nvSpPr>
        <p:spPr>
          <a:xfrm>
            <a:off x="7552944" y="1453896"/>
            <a:ext cx="1554480" cy="621792"/>
          </a:xfrm>
          <a:prstGeom prst="rect">
            <a:avLst/>
          </a:prstGeom>
          <a:noFill/>
          <a:ln/>
        </p:spPr>
        <p:txBody>
          <a:bodyPr wrap="square" lIns="0" tIns="0" rIns="0" bIns="0" rtlCol="0" anchor="ctr"/>
          <a:lstStyle/>
          <a:p>
            <a:pPr marL="0" indent="0">
              <a:buNone/>
            </a:pPr>
            <a:r>
              <a:rPr lang="en-US" sz="1000" dirty="0">
                <a:solidFill>
                  <a:srgbClr val="1E2D3D"/>
                </a:solidFill>
              </a:rPr>
              <a:t>~200 GB/day</a:t>
            </a:r>
            <a:endParaRPr lang="en-US" sz="1000" dirty="0"/>
          </a:p>
        </p:txBody>
      </p:sp>
      <p:sp>
        <p:nvSpPr>
          <p:cNvPr id="20" name="Shape 18"/>
          <p:cNvSpPr/>
          <p:nvPr/>
        </p:nvSpPr>
        <p:spPr>
          <a:xfrm>
            <a:off x="320040" y="2112264"/>
            <a:ext cx="1645920" cy="621792"/>
          </a:xfrm>
          <a:prstGeom prst="rect">
            <a:avLst/>
          </a:prstGeom>
          <a:solidFill>
            <a:srgbClr val="D6EAF8"/>
          </a:solidFill>
          <a:ln/>
        </p:spPr>
      </p:sp>
      <p:sp>
        <p:nvSpPr>
          <p:cNvPr id="21" name="Text 19"/>
          <p:cNvSpPr/>
          <p:nvPr/>
        </p:nvSpPr>
        <p:spPr>
          <a:xfrm>
            <a:off x="365760" y="2112264"/>
            <a:ext cx="1554480" cy="621792"/>
          </a:xfrm>
          <a:prstGeom prst="rect">
            <a:avLst/>
          </a:prstGeom>
          <a:noFill/>
          <a:ln/>
        </p:spPr>
        <p:txBody>
          <a:bodyPr wrap="square" lIns="0" tIns="0" rIns="0" bIns="0" rtlCol="0" anchor="ctr"/>
          <a:lstStyle/>
          <a:p>
            <a:pPr marL="0" indent="0">
              <a:buNone/>
            </a:pPr>
            <a:r>
              <a:rPr lang="en-US" sz="1000" dirty="0">
                <a:solidFill>
                  <a:srgbClr val="1E2D3D"/>
                </a:solidFill>
              </a:rPr>
              <a:t>Traffic</a:t>
            </a:r>
            <a:endParaRPr lang="en-US" sz="1000" dirty="0"/>
          </a:p>
        </p:txBody>
      </p:sp>
      <p:sp>
        <p:nvSpPr>
          <p:cNvPr id="22" name="Shape 20"/>
          <p:cNvSpPr/>
          <p:nvPr/>
        </p:nvSpPr>
        <p:spPr>
          <a:xfrm>
            <a:off x="1984248" y="2112264"/>
            <a:ext cx="2560320" cy="621792"/>
          </a:xfrm>
          <a:prstGeom prst="rect">
            <a:avLst/>
          </a:prstGeom>
          <a:solidFill>
            <a:srgbClr val="D6EAF8"/>
          </a:solidFill>
          <a:ln/>
        </p:spPr>
      </p:sp>
      <p:sp>
        <p:nvSpPr>
          <p:cNvPr id="23" name="Text 21"/>
          <p:cNvSpPr/>
          <p:nvPr/>
        </p:nvSpPr>
        <p:spPr>
          <a:xfrm>
            <a:off x="2029968" y="2112264"/>
            <a:ext cx="2468880" cy="621792"/>
          </a:xfrm>
          <a:prstGeom prst="rect">
            <a:avLst/>
          </a:prstGeom>
          <a:noFill/>
          <a:ln/>
        </p:spPr>
        <p:txBody>
          <a:bodyPr wrap="square" lIns="0" tIns="0" rIns="0" bIns="0" rtlCol="0" anchor="ctr"/>
          <a:lstStyle/>
          <a:p>
            <a:pPr marL="0" indent="0">
              <a:buNone/>
            </a:pPr>
            <a:r>
              <a:rPr lang="en-US" sz="1000" dirty="0">
                <a:solidFill>
                  <a:srgbClr val="1E2D3D"/>
                </a:solidFill>
              </a:rPr>
              <a:t>Vehicle count, speed, signal state</a:t>
            </a:r>
            <a:endParaRPr lang="en-US" sz="1000" dirty="0"/>
          </a:p>
        </p:txBody>
      </p:sp>
      <p:sp>
        <p:nvSpPr>
          <p:cNvPr id="24" name="Shape 22"/>
          <p:cNvSpPr/>
          <p:nvPr/>
        </p:nvSpPr>
        <p:spPr>
          <a:xfrm>
            <a:off x="4562856" y="2112264"/>
            <a:ext cx="2926080" cy="621792"/>
          </a:xfrm>
          <a:prstGeom prst="rect">
            <a:avLst/>
          </a:prstGeom>
          <a:solidFill>
            <a:srgbClr val="D6EAF8"/>
          </a:solidFill>
          <a:ln/>
        </p:spPr>
      </p:sp>
      <p:sp>
        <p:nvSpPr>
          <p:cNvPr id="25" name="Text 23"/>
          <p:cNvSpPr/>
          <p:nvPr/>
        </p:nvSpPr>
        <p:spPr>
          <a:xfrm>
            <a:off x="4608576" y="2112264"/>
            <a:ext cx="2834640" cy="621792"/>
          </a:xfrm>
          <a:prstGeom prst="rect">
            <a:avLst/>
          </a:prstGeom>
          <a:noFill/>
          <a:ln/>
        </p:spPr>
        <p:txBody>
          <a:bodyPr wrap="square" lIns="0" tIns="0" rIns="0" bIns="0" rtlCol="0" anchor="ctr"/>
          <a:lstStyle/>
          <a:p>
            <a:pPr marL="0" indent="0">
              <a:buNone/>
            </a:pPr>
            <a:r>
              <a:rPr lang="en-US" sz="1000" dirty="0">
                <a:solidFill>
                  <a:srgbClr val="1E2D3D"/>
                </a:solidFill>
              </a:rPr>
              <a:t>CCTV cameras, GPS, Google Maps API</a:t>
            </a:r>
            <a:endParaRPr lang="en-US" sz="1000" dirty="0"/>
          </a:p>
        </p:txBody>
      </p:sp>
      <p:sp>
        <p:nvSpPr>
          <p:cNvPr id="26" name="Shape 24"/>
          <p:cNvSpPr/>
          <p:nvPr/>
        </p:nvSpPr>
        <p:spPr>
          <a:xfrm>
            <a:off x="7507224" y="2112264"/>
            <a:ext cx="1645920" cy="621792"/>
          </a:xfrm>
          <a:prstGeom prst="rect">
            <a:avLst/>
          </a:prstGeom>
          <a:solidFill>
            <a:srgbClr val="D6EAF8"/>
          </a:solidFill>
          <a:ln/>
        </p:spPr>
      </p:sp>
      <p:sp>
        <p:nvSpPr>
          <p:cNvPr id="27" name="Text 25"/>
          <p:cNvSpPr/>
          <p:nvPr/>
        </p:nvSpPr>
        <p:spPr>
          <a:xfrm>
            <a:off x="7552944" y="2112264"/>
            <a:ext cx="1554480" cy="621792"/>
          </a:xfrm>
          <a:prstGeom prst="rect">
            <a:avLst/>
          </a:prstGeom>
          <a:noFill/>
          <a:ln/>
        </p:spPr>
        <p:txBody>
          <a:bodyPr wrap="square" lIns="0" tIns="0" rIns="0" bIns="0" rtlCol="0" anchor="ctr"/>
          <a:lstStyle/>
          <a:p>
            <a:pPr marL="0" indent="0">
              <a:buNone/>
            </a:pPr>
            <a:r>
              <a:rPr lang="en-US" sz="1000" dirty="0">
                <a:solidFill>
                  <a:srgbClr val="1E2D3D"/>
                </a:solidFill>
              </a:rPr>
              <a:t>~500 GB/day</a:t>
            </a:r>
            <a:endParaRPr lang="en-US" sz="1000" dirty="0"/>
          </a:p>
        </p:txBody>
      </p:sp>
      <p:sp>
        <p:nvSpPr>
          <p:cNvPr id="28" name="Shape 26"/>
          <p:cNvSpPr/>
          <p:nvPr/>
        </p:nvSpPr>
        <p:spPr>
          <a:xfrm>
            <a:off x="320040" y="2770632"/>
            <a:ext cx="1645920" cy="621792"/>
          </a:xfrm>
          <a:prstGeom prst="rect">
            <a:avLst/>
          </a:prstGeom>
          <a:solidFill>
            <a:srgbClr val="FFFFFF"/>
          </a:solidFill>
          <a:ln/>
        </p:spPr>
      </p:sp>
      <p:sp>
        <p:nvSpPr>
          <p:cNvPr id="29" name="Text 27"/>
          <p:cNvSpPr/>
          <p:nvPr/>
        </p:nvSpPr>
        <p:spPr>
          <a:xfrm>
            <a:off x="365760" y="2770632"/>
            <a:ext cx="1554480" cy="621792"/>
          </a:xfrm>
          <a:prstGeom prst="rect">
            <a:avLst/>
          </a:prstGeom>
          <a:noFill/>
          <a:ln/>
        </p:spPr>
        <p:txBody>
          <a:bodyPr wrap="square" lIns="0" tIns="0" rIns="0" bIns="0" rtlCol="0" anchor="ctr"/>
          <a:lstStyle/>
          <a:p>
            <a:pPr marL="0" indent="0">
              <a:buNone/>
            </a:pPr>
            <a:r>
              <a:rPr lang="en-US" sz="1000" dirty="0">
                <a:solidFill>
                  <a:srgbClr val="1E2D3D"/>
                </a:solidFill>
              </a:rPr>
              <a:t>Energy</a:t>
            </a:r>
            <a:endParaRPr lang="en-US" sz="1000" dirty="0"/>
          </a:p>
        </p:txBody>
      </p:sp>
      <p:sp>
        <p:nvSpPr>
          <p:cNvPr id="30" name="Shape 28"/>
          <p:cNvSpPr/>
          <p:nvPr/>
        </p:nvSpPr>
        <p:spPr>
          <a:xfrm>
            <a:off x="1984248" y="2770632"/>
            <a:ext cx="2560320" cy="621792"/>
          </a:xfrm>
          <a:prstGeom prst="rect">
            <a:avLst/>
          </a:prstGeom>
          <a:solidFill>
            <a:srgbClr val="FFFFFF"/>
          </a:solidFill>
          <a:ln/>
        </p:spPr>
      </p:sp>
      <p:sp>
        <p:nvSpPr>
          <p:cNvPr id="31" name="Text 29"/>
          <p:cNvSpPr/>
          <p:nvPr/>
        </p:nvSpPr>
        <p:spPr>
          <a:xfrm>
            <a:off x="2029968" y="2770632"/>
            <a:ext cx="2468880" cy="621792"/>
          </a:xfrm>
          <a:prstGeom prst="rect">
            <a:avLst/>
          </a:prstGeom>
          <a:noFill/>
          <a:ln/>
        </p:spPr>
        <p:txBody>
          <a:bodyPr wrap="square" lIns="0" tIns="0" rIns="0" bIns="0" rtlCol="0" anchor="ctr"/>
          <a:lstStyle/>
          <a:p>
            <a:pPr marL="0" indent="0">
              <a:buNone/>
            </a:pPr>
            <a:r>
              <a:rPr lang="en-US" sz="1000" dirty="0">
                <a:solidFill>
                  <a:srgbClr val="1E2D3D"/>
                </a:solidFill>
              </a:rPr>
              <a:t>Smart meter readings, grid load</a:t>
            </a:r>
            <a:endParaRPr lang="en-US" sz="1000" dirty="0"/>
          </a:p>
        </p:txBody>
      </p:sp>
      <p:sp>
        <p:nvSpPr>
          <p:cNvPr id="32" name="Shape 30"/>
          <p:cNvSpPr/>
          <p:nvPr/>
        </p:nvSpPr>
        <p:spPr>
          <a:xfrm>
            <a:off x="4562856" y="2770632"/>
            <a:ext cx="2926080" cy="621792"/>
          </a:xfrm>
          <a:prstGeom prst="rect">
            <a:avLst/>
          </a:prstGeom>
          <a:solidFill>
            <a:srgbClr val="FFFFFF"/>
          </a:solidFill>
          <a:ln/>
        </p:spPr>
      </p:sp>
      <p:sp>
        <p:nvSpPr>
          <p:cNvPr id="33" name="Text 31"/>
          <p:cNvSpPr/>
          <p:nvPr/>
        </p:nvSpPr>
        <p:spPr>
          <a:xfrm>
            <a:off x="4608576" y="2770632"/>
            <a:ext cx="2834640" cy="621792"/>
          </a:xfrm>
          <a:prstGeom prst="rect">
            <a:avLst/>
          </a:prstGeom>
          <a:noFill/>
          <a:ln/>
        </p:spPr>
        <p:txBody>
          <a:bodyPr wrap="square" lIns="0" tIns="0" rIns="0" bIns="0" rtlCol="0" anchor="ctr"/>
          <a:lstStyle/>
          <a:p>
            <a:pPr marL="0" indent="0">
              <a:buNone/>
            </a:pPr>
            <a:r>
              <a:rPr lang="en-US" sz="1000" dirty="0">
                <a:solidFill>
                  <a:srgbClr val="1E2D3D"/>
                </a:solidFill>
              </a:rPr>
              <a:t>DISCOMS, SCADA, Smart meters</a:t>
            </a:r>
            <a:endParaRPr lang="en-US" sz="1000" dirty="0"/>
          </a:p>
        </p:txBody>
      </p:sp>
      <p:sp>
        <p:nvSpPr>
          <p:cNvPr id="34" name="Shape 32"/>
          <p:cNvSpPr/>
          <p:nvPr/>
        </p:nvSpPr>
        <p:spPr>
          <a:xfrm>
            <a:off x="7507224" y="2770632"/>
            <a:ext cx="1645920" cy="621792"/>
          </a:xfrm>
          <a:prstGeom prst="rect">
            <a:avLst/>
          </a:prstGeom>
          <a:solidFill>
            <a:srgbClr val="FFFFFF"/>
          </a:solidFill>
          <a:ln/>
        </p:spPr>
      </p:sp>
      <p:sp>
        <p:nvSpPr>
          <p:cNvPr id="35" name="Text 33"/>
          <p:cNvSpPr/>
          <p:nvPr/>
        </p:nvSpPr>
        <p:spPr>
          <a:xfrm>
            <a:off x="7552944" y="2770632"/>
            <a:ext cx="1554480" cy="621792"/>
          </a:xfrm>
          <a:prstGeom prst="rect">
            <a:avLst/>
          </a:prstGeom>
          <a:noFill/>
          <a:ln/>
        </p:spPr>
        <p:txBody>
          <a:bodyPr wrap="square" lIns="0" tIns="0" rIns="0" bIns="0" rtlCol="0" anchor="ctr"/>
          <a:lstStyle/>
          <a:p>
            <a:pPr marL="0" indent="0">
              <a:buNone/>
            </a:pPr>
            <a:r>
              <a:rPr lang="en-US" sz="1000" dirty="0">
                <a:solidFill>
                  <a:srgbClr val="1E2D3D"/>
                </a:solidFill>
              </a:rPr>
              <a:t>~150 GB/day</a:t>
            </a:r>
            <a:endParaRPr lang="en-US" sz="1000" dirty="0"/>
          </a:p>
        </p:txBody>
      </p:sp>
      <p:sp>
        <p:nvSpPr>
          <p:cNvPr id="36" name="Shape 34"/>
          <p:cNvSpPr/>
          <p:nvPr/>
        </p:nvSpPr>
        <p:spPr>
          <a:xfrm>
            <a:off x="320040" y="3429000"/>
            <a:ext cx="1645920" cy="621792"/>
          </a:xfrm>
          <a:prstGeom prst="rect">
            <a:avLst/>
          </a:prstGeom>
          <a:solidFill>
            <a:srgbClr val="D6EAF8"/>
          </a:solidFill>
          <a:ln/>
        </p:spPr>
      </p:sp>
      <p:sp>
        <p:nvSpPr>
          <p:cNvPr id="37" name="Text 35"/>
          <p:cNvSpPr/>
          <p:nvPr/>
        </p:nvSpPr>
        <p:spPr>
          <a:xfrm>
            <a:off x="365760" y="3429000"/>
            <a:ext cx="1554480" cy="621792"/>
          </a:xfrm>
          <a:prstGeom prst="rect">
            <a:avLst/>
          </a:prstGeom>
          <a:noFill/>
          <a:ln/>
        </p:spPr>
        <p:txBody>
          <a:bodyPr wrap="square" lIns="0" tIns="0" rIns="0" bIns="0" rtlCol="0" anchor="ctr"/>
          <a:lstStyle/>
          <a:p>
            <a:pPr marL="0" indent="0">
              <a:buNone/>
            </a:pPr>
            <a:r>
              <a:rPr lang="en-US" sz="1000" dirty="0">
                <a:solidFill>
                  <a:srgbClr val="1E2D3D"/>
                </a:solidFill>
              </a:rPr>
              <a:t>Weather</a:t>
            </a:r>
            <a:endParaRPr lang="en-US" sz="1000" dirty="0"/>
          </a:p>
        </p:txBody>
      </p:sp>
      <p:sp>
        <p:nvSpPr>
          <p:cNvPr id="38" name="Shape 36"/>
          <p:cNvSpPr/>
          <p:nvPr/>
        </p:nvSpPr>
        <p:spPr>
          <a:xfrm>
            <a:off x="1984248" y="3429000"/>
            <a:ext cx="2560320" cy="621792"/>
          </a:xfrm>
          <a:prstGeom prst="rect">
            <a:avLst/>
          </a:prstGeom>
          <a:solidFill>
            <a:srgbClr val="D6EAF8"/>
          </a:solidFill>
          <a:ln/>
        </p:spPr>
      </p:sp>
      <p:sp>
        <p:nvSpPr>
          <p:cNvPr id="39" name="Text 37"/>
          <p:cNvSpPr/>
          <p:nvPr/>
        </p:nvSpPr>
        <p:spPr>
          <a:xfrm>
            <a:off x="2029968" y="3429000"/>
            <a:ext cx="2468880" cy="621792"/>
          </a:xfrm>
          <a:prstGeom prst="rect">
            <a:avLst/>
          </a:prstGeom>
          <a:noFill/>
          <a:ln/>
        </p:spPr>
        <p:txBody>
          <a:bodyPr wrap="square" lIns="0" tIns="0" rIns="0" bIns="0" rtlCol="0" anchor="ctr"/>
          <a:lstStyle/>
          <a:p>
            <a:pPr marL="0" indent="0">
              <a:buNone/>
            </a:pPr>
            <a:r>
              <a:rPr lang="en-US" sz="1000" dirty="0">
                <a:solidFill>
                  <a:srgbClr val="1E2D3D"/>
                </a:solidFill>
              </a:rPr>
              <a:t>Temperature, humidity, rainfall</a:t>
            </a:r>
            <a:endParaRPr lang="en-US" sz="1000" dirty="0"/>
          </a:p>
        </p:txBody>
      </p:sp>
      <p:sp>
        <p:nvSpPr>
          <p:cNvPr id="40" name="Shape 38"/>
          <p:cNvSpPr/>
          <p:nvPr/>
        </p:nvSpPr>
        <p:spPr>
          <a:xfrm>
            <a:off x="4562856" y="3429000"/>
            <a:ext cx="2926080" cy="621792"/>
          </a:xfrm>
          <a:prstGeom prst="rect">
            <a:avLst/>
          </a:prstGeom>
          <a:solidFill>
            <a:srgbClr val="D6EAF8"/>
          </a:solidFill>
          <a:ln/>
        </p:spPr>
      </p:sp>
      <p:sp>
        <p:nvSpPr>
          <p:cNvPr id="41" name="Text 39"/>
          <p:cNvSpPr/>
          <p:nvPr/>
        </p:nvSpPr>
        <p:spPr>
          <a:xfrm>
            <a:off x="4608576" y="3429000"/>
            <a:ext cx="2834640" cy="621792"/>
          </a:xfrm>
          <a:prstGeom prst="rect">
            <a:avLst/>
          </a:prstGeom>
          <a:noFill/>
          <a:ln/>
        </p:spPr>
        <p:txBody>
          <a:bodyPr wrap="square" lIns="0" tIns="0" rIns="0" bIns="0" rtlCol="0" anchor="ctr"/>
          <a:lstStyle/>
          <a:p>
            <a:pPr marL="0" indent="0">
              <a:buNone/>
            </a:pPr>
            <a:r>
              <a:rPr lang="en-US" sz="1000" dirty="0">
                <a:solidFill>
                  <a:srgbClr val="1E2D3D"/>
                </a:solidFill>
              </a:rPr>
              <a:t>IMD (India Met Dept.), OpenWeather</a:t>
            </a:r>
            <a:endParaRPr lang="en-US" sz="1000" dirty="0"/>
          </a:p>
        </p:txBody>
      </p:sp>
      <p:sp>
        <p:nvSpPr>
          <p:cNvPr id="42" name="Shape 40"/>
          <p:cNvSpPr/>
          <p:nvPr/>
        </p:nvSpPr>
        <p:spPr>
          <a:xfrm>
            <a:off x="7507224" y="3429000"/>
            <a:ext cx="1645920" cy="621792"/>
          </a:xfrm>
          <a:prstGeom prst="rect">
            <a:avLst/>
          </a:prstGeom>
          <a:solidFill>
            <a:srgbClr val="D6EAF8"/>
          </a:solidFill>
          <a:ln/>
        </p:spPr>
      </p:sp>
      <p:sp>
        <p:nvSpPr>
          <p:cNvPr id="43" name="Text 41"/>
          <p:cNvSpPr/>
          <p:nvPr/>
        </p:nvSpPr>
        <p:spPr>
          <a:xfrm>
            <a:off x="7552944" y="3429000"/>
            <a:ext cx="1554480" cy="621792"/>
          </a:xfrm>
          <a:prstGeom prst="rect">
            <a:avLst/>
          </a:prstGeom>
          <a:noFill/>
          <a:ln/>
        </p:spPr>
        <p:txBody>
          <a:bodyPr wrap="square" lIns="0" tIns="0" rIns="0" bIns="0" rtlCol="0" anchor="ctr"/>
          <a:lstStyle/>
          <a:p>
            <a:pPr marL="0" indent="0">
              <a:buNone/>
            </a:pPr>
            <a:r>
              <a:rPr lang="en-US" sz="1000" dirty="0">
                <a:solidFill>
                  <a:srgbClr val="1E2D3D"/>
                </a:solidFill>
              </a:rPr>
              <a:t>~10 GB/day</a:t>
            </a:r>
            <a:endParaRPr lang="en-US" sz="1000" dirty="0"/>
          </a:p>
        </p:txBody>
      </p:sp>
      <p:sp>
        <p:nvSpPr>
          <p:cNvPr id="44" name="Shape 42"/>
          <p:cNvSpPr/>
          <p:nvPr/>
        </p:nvSpPr>
        <p:spPr>
          <a:xfrm>
            <a:off x="320040" y="4087368"/>
            <a:ext cx="1645920" cy="621792"/>
          </a:xfrm>
          <a:prstGeom prst="rect">
            <a:avLst/>
          </a:prstGeom>
          <a:solidFill>
            <a:srgbClr val="FFFFFF"/>
          </a:solidFill>
          <a:ln/>
        </p:spPr>
      </p:sp>
      <p:sp>
        <p:nvSpPr>
          <p:cNvPr id="45" name="Text 43"/>
          <p:cNvSpPr/>
          <p:nvPr/>
        </p:nvSpPr>
        <p:spPr>
          <a:xfrm>
            <a:off x="365760" y="4087368"/>
            <a:ext cx="1554480" cy="621792"/>
          </a:xfrm>
          <a:prstGeom prst="rect">
            <a:avLst/>
          </a:prstGeom>
          <a:noFill/>
          <a:ln/>
        </p:spPr>
        <p:txBody>
          <a:bodyPr wrap="square" lIns="0" tIns="0" rIns="0" bIns="0" rtlCol="0" anchor="ctr"/>
          <a:lstStyle/>
          <a:p>
            <a:pPr marL="0" indent="0">
              <a:buNone/>
            </a:pPr>
            <a:r>
              <a:rPr lang="en-US" sz="1000" dirty="0">
                <a:solidFill>
                  <a:srgbClr val="1E2D3D"/>
                </a:solidFill>
              </a:rPr>
              <a:t>Citizen</a:t>
            </a:r>
            <a:endParaRPr lang="en-US" sz="1000" dirty="0"/>
          </a:p>
        </p:txBody>
      </p:sp>
      <p:sp>
        <p:nvSpPr>
          <p:cNvPr id="46" name="Shape 44"/>
          <p:cNvSpPr/>
          <p:nvPr/>
        </p:nvSpPr>
        <p:spPr>
          <a:xfrm>
            <a:off x="1984248" y="4087368"/>
            <a:ext cx="2560320" cy="621792"/>
          </a:xfrm>
          <a:prstGeom prst="rect">
            <a:avLst/>
          </a:prstGeom>
          <a:solidFill>
            <a:srgbClr val="FFFFFF"/>
          </a:solidFill>
          <a:ln/>
        </p:spPr>
      </p:sp>
      <p:sp>
        <p:nvSpPr>
          <p:cNvPr id="47" name="Text 45"/>
          <p:cNvSpPr/>
          <p:nvPr/>
        </p:nvSpPr>
        <p:spPr>
          <a:xfrm>
            <a:off x="2029968" y="4087368"/>
            <a:ext cx="2468880" cy="621792"/>
          </a:xfrm>
          <a:prstGeom prst="rect">
            <a:avLst/>
          </a:prstGeom>
          <a:noFill/>
          <a:ln/>
        </p:spPr>
        <p:txBody>
          <a:bodyPr wrap="square" lIns="0" tIns="0" rIns="0" bIns="0" rtlCol="0" anchor="ctr"/>
          <a:lstStyle/>
          <a:p>
            <a:pPr marL="0" indent="0">
              <a:buNone/>
            </a:pPr>
            <a:r>
              <a:rPr lang="en-US" sz="1000" dirty="0">
                <a:solidFill>
                  <a:srgbClr val="1E2D3D"/>
                </a:solidFill>
              </a:rPr>
              <a:t>311 complaints, social media</a:t>
            </a:r>
            <a:endParaRPr lang="en-US" sz="1000" dirty="0"/>
          </a:p>
        </p:txBody>
      </p:sp>
      <p:sp>
        <p:nvSpPr>
          <p:cNvPr id="48" name="Shape 46"/>
          <p:cNvSpPr/>
          <p:nvPr/>
        </p:nvSpPr>
        <p:spPr>
          <a:xfrm>
            <a:off x="4562856" y="4087368"/>
            <a:ext cx="2926080" cy="621792"/>
          </a:xfrm>
          <a:prstGeom prst="rect">
            <a:avLst/>
          </a:prstGeom>
          <a:solidFill>
            <a:srgbClr val="FFFFFF"/>
          </a:solidFill>
          <a:ln/>
        </p:spPr>
      </p:sp>
      <p:sp>
        <p:nvSpPr>
          <p:cNvPr id="49" name="Text 47"/>
          <p:cNvSpPr/>
          <p:nvPr/>
        </p:nvSpPr>
        <p:spPr>
          <a:xfrm>
            <a:off x="4608576" y="4087368"/>
            <a:ext cx="2834640" cy="621792"/>
          </a:xfrm>
          <a:prstGeom prst="rect">
            <a:avLst/>
          </a:prstGeom>
          <a:noFill/>
          <a:ln/>
        </p:spPr>
        <p:txBody>
          <a:bodyPr wrap="square" lIns="0" tIns="0" rIns="0" bIns="0" rtlCol="0" anchor="ctr"/>
          <a:lstStyle/>
          <a:p>
            <a:pPr marL="0" indent="0">
              <a:buNone/>
            </a:pPr>
            <a:r>
              <a:rPr lang="en-US" sz="1000" dirty="0">
                <a:solidFill>
                  <a:srgbClr val="1E2D3D"/>
                </a:solidFill>
              </a:rPr>
              <a:t>Mobile App, Twitter API</a:t>
            </a:r>
            <a:endParaRPr lang="en-US" sz="1000" dirty="0"/>
          </a:p>
        </p:txBody>
      </p:sp>
      <p:sp>
        <p:nvSpPr>
          <p:cNvPr id="50" name="Shape 48"/>
          <p:cNvSpPr/>
          <p:nvPr/>
        </p:nvSpPr>
        <p:spPr>
          <a:xfrm>
            <a:off x="7507224" y="4087368"/>
            <a:ext cx="1645920" cy="621792"/>
          </a:xfrm>
          <a:prstGeom prst="rect">
            <a:avLst/>
          </a:prstGeom>
          <a:solidFill>
            <a:srgbClr val="FFFFFF"/>
          </a:solidFill>
          <a:ln/>
        </p:spPr>
      </p:sp>
      <p:sp>
        <p:nvSpPr>
          <p:cNvPr id="51" name="Text 49"/>
          <p:cNvSpPr/>
          <p:nvPr/>
        </p:nvSpPr>
        <p:spPr>
          <a:xfrm>
            <a:off x="7552944" y="4087368"/>
            <a:ext cx="1554480" cy="621792"/>
          </a:xfrm>
          <a:prstGeom prst="rect">
            <a:avLst/>
          </a:prstGeom>
          <a:noFill/>
          <a:ln/>
        </p:spPr>
        <p:txBody>
          <a:bodyPr wrap="square" lIns="0" tIns="0" rIns="0" bIns="0" rtlCol="0" anchor="ctr"/>
          <a:lstStyle/>
          <a:p>
            <a:pPr marL="0" indent="0">
              <a:buNone/>
            </a:pPr>
            <a:r>
              <a:rPr lang="en-US" sz="1000" dirty="0">
                <a:solidFill>
                  <a:srgbClr val="1E2D3D"/>
                </a:solidFill>
              </a:rPr>
              <a:t>~50 GB/day</a:t>
            </a:r>
            <a:endParaRPr lang="en-US" sz="1000" dirty="0"/>
          </a:p>
        </p:txBody>
      </p:sp>
      <p:sp>
        <p:nvSpPr>
          <p:cNvPr id="52" name="Text 50"/>
          <p:cNvSpPr/>
          <p:nvPr/>
        </p:nvSpPr>
        <p:spPr>
          <a:xfrm>
            <a:off x="320040" y="4709160"/>
            <a:ext cx="8503920" cy="320040"/>
          </a:xfrm>
          <a:prstGeom prst="rect">
            <a:avLst/>
          </a:prstGeom>
          <a:noFill/>
          <a:ln/>
        </p:spPr>
        <p:txBody>
          <a:bodyPr wrap="square" lIns="0" tIns="0" rIns="0" bIns="0" rtlCol="0" anchor="ctr"/>
          <a:lstStyle/>
          <a:p>
            <a:pPr marL="0" indent="0" algn="ctr">
              <a:buNone/>
            </a:pPr>
            <a:r>
              <a:rPr lang="en-US" sz="950" i="1" dirty="0">
                <a:solidFill>
                  <a:srgbClr val="5E7A8A"/>
                </a:solidFill>
              </a:rPr>
              <a:t>Total estimated data pipeline: ~910 GB/day  |  Stored in HDFS Cluster over 90-day rolling window</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65A82"/>
          </a:solidFill>
          <a:ln/>
        </p:spPr>
      </p:sp>
      <p:sp>
        <p:nvSpPr>
          <p:cNvPr id="3" name="Text 1"/>
          <p:cNvSpPr/>
          <p:nvPr/>
        </p:nvSpPr>
        <p:spPr>
          <a:xfrm>
            <a:off x="365760" y="0"/>
            <a:ext cx="8229600" cy="914400"/>
          </a:xfrm>
          <a:prstGeom prst="rect">
            <a:avLst/>
          </a:prstGeom>
          <a:noFill/>
          <a:ln/>
        </p:spPr>
        <p:txBody>
          <a:bodyPr wrap="square" lIns="0" tIns="0" rIns="0" bIns="0" rtlCol="0" anchor="ctr"/>
          <a:lstStyle/>
          <a:p>
            <a:pPr marL="0" indent="0">
              <a:buNone/>
            </a:pPr>
            <a:r>
              <a:rPr lang="en-US" sz="2200" b="1" dirty="0">
                <a:solidFill>
                  <a:srgbClr val="FFFFFF"/>
                </a:solidFill>
              </a:rPr>
              <a:t>04  |  TOOLS &amp; TECHNIQUES</a:t>
            </a:r>
            <a:endParaRPr lang="en-US" sz="2200" dirty="0"/>
          </a:p>
        </p:txBody>
      </p:sp>
      <p:sp>
        <p:nvSpPr>
          <p:cNvPr id="4" name="Shape 2"/>
          <p:cNvSpPr/>
          <p:nvPr/>
        </p:nvSpPr>
        <p:spPr>
          <a:xfrm>
            <a:off x="228600" y="1024128"/>
            <a:ext cx="2834640" cy="1691640"/>
          </a:xfrm>
          <a:prstGeom prst="rect">
            <a:avLst/>
          </a:prstGeom>
          <a:solidFill>
            <a:srgbClr val="E8F4F8"/>
          </a:solidFill>
          <a:ln/>
          <a:effectLst>
            <a:outerShdw blurRad="101600" dist="38100" dir="8100000" algn="bl" rotWithShape="0">
              <a:srgbClr val="000000">
                <a:alpha val="12000"/>
              </a:srgbClr>
            </a:outerShdw>
          </a:effectLst>
        </p:spPr>
      </p:sp>
      <p:sp>
        <p:nvSpPr>
          <p:cNvPr id="5" name="Shape 3"/>
          <p:cNvSpPr/>
          <p:nvPr/>
        </p:nvSpPr>
        <p:spPr>
          <a:xfrm>
            <a:off x="228600" y="1024128"/>
            <a:ext cx="2834640" cy="73152"/>
          </a:xfrm>
          <a:prstGeom prst="rect">
            <a:avLst/>
          </a:prstGeom>
          <a:solidFill>
            <a:srgbClr val="02C39A"/>
          </a:solidFill>
          <a:ln/>
        </p:spPr>
      </p:sp>
      <p:sp>
        <p:nvSpPr>
          <p:cNvPr id="6" name="Text 4"/>
          <p:cNvSpPr/>
          <p:nvPr/>
        </p:nvSpPr>
        <p:spPr>
          <a:xfrm>
            <a:off x="320040" y="1133856"/>
            <a:ext cx="2651760" cy="256032"/>
          </a:xfrm>
          <a:prstGeom prst="rect">
            <a:avLst/>
          </a:prstGeom>
          <a:noFill/>
          <a:ln/>
        </p:spPr>
        <p:txBody>
          <a:bodyPr wrap="square" lIns="0" tIns="0" rIns="0" bIns="0" rtlCol="0" anchor="ctr"/>
          <a:lstStyle/>
          <a:p>
            <a:pPr marL="0" indent="0">
              <a:buNone/>
            </a:pPr>
            <a:r>
              <a:rPr lang="en-US" sz="850" b="1" dirty="0">
                <a:solidFill>
                  <a:srgbClr val="02C39A"/>
                </a:solidFill>
              </a:rPr>
              <a:t>STORAGE &amp; BATCH</a:t>
            </a:r>
            <a:endParaRPr lang="en-US" sz="850" dirty="0"/>
          </a:p>
        </p:txBody>
      </p:sp>
      <p:sp>
        <p:nvSpPr>
          <p:cNvPr id="7" name="Text 5"/>
          <p:cNvSpPr/>
          <p:nvPr/>
        </p:nvSpPr>
        <p:spPr>
          <a:xfrm>
            <a:off x="320040" y="1389888"/>
            <a:ext cx="2651760" cy="320040"/>
          </a:xfrm>
          <a:prstGeom prst="rect">
            <a:avLst/>
          </a:prstGeom>
          <a:noFill/>
          <a:ln/>
        </p:spPr>
        <p:txBody>
          <a:bodyPr wrap="square" lIns="0" tIns="0" rIns="0" bIns="0" rtlCol="0" anchor="ctr"/>
          <a:lstStyle/>
          <a:p>
            <a:pPr marL="0" indent="0">
              <a:buNone/>
            </a:pPr>
            <a:r>
              <a:rPr lang="en-US" sz="1300" b="1" dirty="0">
                <a:solidFill>
                  <a:srgbClr val="0A2342"/>
                </a:solidFill>
              </a:rPr>
              <a:t>Apache Hadoop</a:t>
            </a:r>
            <a:endParaRPr lang="en-US" sz="1300" dirty="0"/>
          </a:p>
        </p:txBody>
      </p:sp>
      <p:sp>
        <p:nvSpPr>
          <p:cNvPr id="8" name="Text 6"/>
          <p:cNvSpPr/>
          <p:nvPr/>
        </p:nvSpPr>
        <p:spPr>
          <a:xfrm>
            <a:off x="320040" y="1737360"/>
            <a:ext cx="2651760" cy="914400"/>
          </a:xfrm>
          <a:prstGeom prst="rect">
            <a:avLst/>
          </a:prstGeom>
          <a:noFill/>
          <a:ln/>
        </p:spPr>
        <p:txBody>
          <a:bodyPr wrap="square" lIns="0" tIns="0" rIns="0" bIns="0" rtlCol="0" anchor="ctr"/>
          <a:lstStyle/>
          <a:p>
            <a:pPr marL="0" indent="0">
              <a:buNone/>
            </a:pPr>
            <a:r>
              <a:rPr lang="en-US" sz="950" dirty="0">
                <a:solidFill>
                  <a:srgbClr val="1E2D3D"/>
                </a:solidFill>
              </a:rPr>
              <a:t>HDFS stores sensor data; MapReduce for batch processing of historical traffic &amp; waste logs.</a:t>
            </a:r>
            <a:endParaRPr lang="en-US" sz="950" dirty="0"/>
          </a:p>
        </p:txBody>
      </p:sp>
      <p:sp>
        <p:nvSpPr>
          <p:cNvPr id="9" name="Shape 7"/>
          <p:cNvSpPr/>
          <p:nvPr/>
        </p:nvSpPr>
        <p:spPr>
          <a:xfrm>
            <a:off x="3246120" y="1024128"/>
            <a:ext cx="2834640" cy="1691640"/>
          </a:xfrm>
          <a:prstGeom prst="rect">
            <a:avLst/>
          </a:prstGeom>
          <a:solidFill>
            <a:srgbClr val="E8F4F8"/>
          </a:solidFill>
          <a:ln/>
          <a:effectLst>
            <a:outerShdw blurRad="101600" dist="38100" dir="8100000" algn="bl" rotWithShape="0">
              <a:srgbClr val="000000">
                <a:alpha val="12000"/>
              </a:srgbClr>
            </a:outerShdw>
          </a:effectLst>
        </p:spPr>
      </p:sp>
      <p:sp>
        <p:nvSpPr>
          <p:cNvPr id="10" name="Shape 8"/>
          <p:cNvSpPr/>
          <p:nvPr/>
        </p:nvSpPr>
        <p:spPr>
          <a:xfrm>
            <a:off x="3246120" y="1024128"/>
            <a:ext cx="2834640" cy="73152"/>
          </a:xfrm>
          <a:prstGeom prst="rect">
            <a:avLst/>
          </a:prstGeom>
          <a:solidFill>
            <a:srgbClr val="02C39A"/>
          </a:solidFill>
          <a:ln/>
        </p:spPr>
      </p:sp>
      <p:sp>
        <p:nvSpPr>
          <p:cNvPr id="11" name="Text 9"/>
          <p:cNvSpPr/>
          <p:nvPr/>
        </p:nvSpPr>
        <p:spPr>
          <a:xfrm>
            <a:off x="3337560" y="1133856"/>
            <a:ext cx="2651760" cy="256032"/>
          </a:xfrm>
          <a:prstGeom prst="rect">
            <a:avLst/>
          </a:prstGeom>
          <a:noFill/>
          <a:ln/>
        </p:spPr>
        <p:txBody>
          <a:bodyPr wrap="square" lIns="0" tIns="0" rIns="0" bIns="0" rtlCol="0" anchor="ctr"/>
          <a:lstStyle/>
          <a:p>
            <a:pPr marL="0" indent="0">
              <a:buNone/>
            </a:pPr>
            <a:r>
              <a:rPr lang="en-US" sz="850" b="1" dirty="0">
                <a:solidFill>
                  <a:srgbClr val="02C39A"/>
                </a:solidFill>
              </a:rPr>
              <a:t>REAL-TIME PROCESSING</a:t>
            </a:r>
            <a:endParaRPr lang="en-US" sz="850" dirty="0"/>
          </a:p>
        </p:txBody>
      </p:sp>
      <p:sp>
        <p:nvSpPr>
          <p:cNvPr id="12" name="Text 10"/>
          <p:cNvSpPr/>
          <p:nvPr/>
        </p:nvSpPr>
        <p:spPr>
          <a:xfrm>
            <a:off x="3337560" y="1389888"/>
            <a:ext cx="2651760" cy="320040"/>
          </a:xfrm>
          <a:prstGeom prst="rect">
            <a:avLst/>
          </a:prstGeom>
          <a:noFill/>
          <a:ln/>
        </p:spPr>
        <p:txBody>
          <a:bodyPr wrap="square" lIns="0" tIns="0" rIns="0" bIns="0" rtlCol="0" anchor="ctr"/>
          <a:lstStyle/>
          <a:p>
            <a:pPr marL="0" indent="0">
              <a:buNone/>
            </a:pPr>
            <a:r>
              <a:rPr lang="en-US" sz="1300" b="1" dirty="0">
                <a:solidFill>
                  <a:srgbClr val="0A2342"/>
                </a:solidFill>
              </a:rPr>
              <a:t>Apache Spark</a:t>
            </a:r>
            <a:endParaRPr lang="en-US" sz="1300" dirty="0"/>
          </a:p>
        </p:txBody>
      </p:sp>
      <p:sp>
        <p:nvSpPr>
          <p:cNvPr id="13" name="Text 11"/>
          <p:cNvSpPr/>
          <p:nvPr/>
        </p:nvSpPr>
        <p:spPr>
          <a:xfrm>
            <a:off x="3337560" y="1737360"/>
            <a:ext cx="2651760" cy="914400"/>
          </a:xfrm>
          <a:prstGeom prst="rect">
            <a:avLst/>
          </a:prstGeom>
          <a:noFill/>
          <a:ln/>
        </p:spPr>
        <p:txBody>
          <a:bodyPr wrap="square" lIns="0" tIns="0" rIns="0" bIns="0" rtlCol="0" anchor="ctr"/>
          <a:lstStyle/>
          <a:p>
            <a:pPr marL="0" indent="0">
              <a:buNone/>
            </a:pPr>
            <a:r>
              <a:rPr lang="en-US" sz="950" dirty="0">
                <a:solidFill>
                  <a:srgbClr val="1E2D3D"/>
                </a:solidFill>
              </a:rPr>
              <a:t>Spark Streaming processes live IoT feeds; 100x faster than Hadoop MapReduce for iterative tasks.</a:t>
            </a:r>
            <a:endParaRPr lang="en-US" sz="950" dirty="0"/>
          </a:p>
        </p:txBody>
      </p:sp>
      <p:sp>
        <p:nvSpPr>
          <p:cNvPr id="14" name="Shape 12"/>
          <p:cNvSpPr/>
          <p:nvPr/>
        </p:nvSpPr>
        <p:spPr>
          <a:xfrm>
            <a:off x="6263640" y="1024128"/>
            <a:ext cx="2834640" cy="1691640"/>
          </a:xfrm>
          <a:prstGeom prst="rect">
            <a:avLst/>
          </a:prstGeom>
          <a:solidFill>
            <a:srgbClr val="E8F4F8"/>
          </a:solidFill>
          <a:ln/>
          <a:effectLst>
            <a:outerShdw blurRad="101600" dist="38100" dir="8100000" algn="bl" rotWithShape="0">
              <a:srgbClr val="000000">
                <a:alpha val="12000"/>
              </a:srgbClr>
            </a:outerShdw>
          </a:effectLst>
        </p:spPr>
      </p:sp>
      <p:sp>
        <p:nvSpPr>
          <p:cNvPr id="15" name="Shape 13"/>
          <p:cNvSpPr/>
          <p:nvPr/>
        </p:nvSpPr>
        <p:spPr>
          <a:xfrm>
            <a:off x="6263640" y="1024128"/>
            <a:ext cx="2834640" cy="73152"/>
          </a:xfrm>
          <a:prstGeom prst="rect">
            <a:avLst/>
          </a:prstGeom>
          <a:solidFill>
            <a:srgbClr val="02C39A"/>
          </a:solidFill>
          <a:ln/>
        </p:spPr>
      </p:sp>
      <p:sp>
        <p:nvSpPr>
          <p:cNvPr id="16" name="Text 14"/>
          <p:cNvSpPr/>
          <p:nvPr/>
        </p:nvSpPr>
        <p:spPr>
          <a:xfrm>
            <a:off x="6355080" y="1133856"/>
            <a:ext cx="2651760" cy="256032"/>
          </a:xfrm>
          <a:prstGeom prst="rect">
            <a:avLst/>
          </a:prstGeom>
          <a:noFill/>
          <a:ln/>
        </p:spPr>
        <p:txBody>
          <a:bodyPr wrap="square" lIns="0" tIns="0" rIns="0" bIns="0" rtlCol="0" anchor="ctr"/>
          <a:lstStyle/>
          <a:p>
            <a:pPr marL="0" indent="0">
              <a:buNone/>
            </a:pPr>
            <a:r>
              <a:rPr lang="en-US" sz="850" b="1" dirty="0">
                <a:solidFill>
                  <a:srgbClr val="02C39A"/>
                </a:solidFill>
              </a:rPr>
              <a:t>DATA INGESTION</a:t>
            </a:r>
            <a:endParaRPr lang="en-US" sz="850" dirty="0"/>
          </a:p>
        </p:txBody>
      </p:sp>
      <p:sp>
        <p:nvSpPr>
          <p:cNvPr id="17" name="Text 15"/>
          <p:cNvSpPr/>
          <p:nvPr/>
        </p:nvSpPr>
        <p:spPr>
          <a:xfrm>
            <a:off x="6355080" y="1389888"/>
            <a:ext cx="2651760" cy="320040"/>
          </a:xfrm>
          <a:prstGeom prst="rect">
            <a:avLst/>
          </a:prstGeom>
          <a:noFill/>
          <a:ln/>
        </p:spPr>
        <p:txBody>
          <a:bodyPr wrap="square" lIns="0" tIns="0" rIns="0" bIns="0" rtlCol="0" anchor="ctr"/>
          <a:lstStyle/>
          <a:p>
            <a:pPr marL="0" indent="0">
              <a:buNone/>
            </a:pPr>
            <a:r>
              <a:rPr lang="en-US" sz="1300" b="1" dirty="0">
                <a:solidFill>
                  <a:srgbClr val="0A2342"/>
                </a:solidFill>
              </a:rPr>
              <a:t>Apache Kafka</a:t>
            </a:r>
            <a:endParaRPr lang="en-US" sz="1300" dirty="0"/>
          </a:p>
        </p:txBody>
      </p:sp>
      <p:sp>
        <p:nvSpPr>
          <p:cNvPr id="18" name="Text 16"/>
          <p:cNvSpPr/>
          <p:nvPr/>
        </p:nvSpPr>
        <p:spPr>
          <a:xfrm>
            <a:off x="6355080" y="1737360"/>
            <a:ext cx="2651760" cy="914400"/>
          </a:xfrm>
          <a:prstGeom prst="rect">
            <a:avLst/>
          </a:prstGeom>
          <a:noFill/>
          <a:ln/>
        </p:spPr>
        <p:txBody>
          <a:bodyPr wrap="square" lIns="0" tIns="0" rIns="0" bIns="0" rtlCol="0" anchor="ctr"/>
          <a:lstStyle/>
          <a:p>
            <a:pPr marL="0" indent="0">
              <a:buNone/>
            </a:pPr>
            <a:r>
              <a:rPr lang="en-US" sz="950" dirty="0">
                <a:solidFill>
                  <a:srgbClr val="1E2D3D"/>
                </a:solidFill>
              </a:rPr>
              <a:t>Message broker ingesting thousands of sensor events per second with fault-tolerant queues.</a:t>
            </a:r>
            <a:endParaRPr lang="en-US" sz="950" dirty="0"/>
          </a:p>
        </p:txBody>
      </p:sp>
      <p:sp>
        <p:nvSpPr>
          <p:cNvPr id="19" name="Shape 17"/>
          <p:cNvSpPr/>
          <p:nvPr/>
        </p:nvSpPr>
        <p:spPr>
          <a:xfrm>
            <a:off x="228600" y="2898648"/>
            <a:ext cx="2834640" cy="1691640"/>
          </a:xfrm>
          <a:prstGeom prst="rect">
            <a:avLst/>
          </a:prstGeom>
          <a:solidFill>
            <a:srgbClr val="E8F4F8"/>
          </a:solidFill>
          <a:ln/>
          <a:effectLst>
            <a:outerShdw blurRad="101600" dist="38100" dir="8100000" algn="bl" rotWithShape="0">
              <a:srgbClr val="000000">
                <a:alpha val="12000"/>
              </a:srgbClr>
            </a:outerShdw>
          </a:effectLst>
        </p:spPr>
      </p:sp>
      <p:sp>
        <p:nvSpPr>
          <p:cNvPr id="20" name="Shape 18"/>
          <p:cNvSpPr/>
          <p:nvPr/>
        </p:nvSpPr>
        <p:spPr>
          <a:xfrm>
            <a:off x="228600" y="2898648"/>
            <a:ext cx="2834640" cy="73152"/>
          </a:xfrm>
          <a:prstGeom prst="rect">
            <a:avLst/>
          </a:prstGeom>
          <a:solidFill>
            <a:srgbClr val="02C39A"/>
          </a:solidFill>
          <a:ln/>
        </p:spPr>
      </p:sp>
      <p:sp>
        <p:nvSpPr>
          <p:cNvPr id="21" name="Text 19"/>
          <p:cNvSpPr/>
          <p:nvPr/>
        </p:nvSpPr>
        <p:spPr>
          <a:xfrm>
            <a:off x="320040" y="3008376"/>
            <a:ext cx="2651760" cy="256032"/>
          </a:xfrm>
          <a:prstGeom prst="rect">
            <a:avLst/>
          </a:prstGeom>
          <a:noFill/>
          <a:ln/>
        </p:spPr>
        <p:txBody>
          <a:bodyPr wrap="square" lIns="0" tIns="0" rIns="0" bIns="0" rtlCol="0" anchor="ctr"/>
          <a:lstStyle/>
          <a:p>
            <a:pPr marL="0" indent="0">
              <a:buNone/>
            </a:pPr>
            <a:r>
              <a:rPr lang="en-US" sz="850" b="1" dirty="0">
                <a:solidFill>
                  <a:srgbClr val="02C39A"/>
                </a:solidFill>
              </a:rPr>
              <a:t>ANALYTICS &amp; ML</a:t>
            </a:r>
            <a:endParaRPr lang="en-US" sz="850" dirty="0"/>
          </a:p>
        </p:txBody>
      </p:sp>
      <p:sp>
        <p:nvSpPr>
          <p:cNvPr id="22" name="Text 20"/>
          <p:cNvSpPr/>
          <p:nvPr/>
        </p:nvSpPr>
        <p:spPr>
          <a:xfrm>
            <a:off x="320040" y="3264408"/>
            <a:ext cx="2651760" cy="320040"/>
          </a:xfrm>
          <a:prstGeom prst="rect">
            <a:avLst/>
          </a:prstGeom>
          <a:noFill/>
          <a:ln/>
        </p:spPr>
        <p:txBody>
          <a:bodyPr wrap="square" lIns="0" tIns="0" rIns="0" bIns="0" rtlCol="0" anchor="ctr"/>
          <a:lstStyle/>
          <a:p>
            <a:pPr marL="0" indent="0">
              <a:buNone/>
            </a:pPr>
            <a:r>
              <a:rPr lang="en-US" sz="1300" b="1" dirty="0">
                <a:solidFill>
                  <a:srgbClr val="0A2342"/>
                </a:solidFill>
              </a:rPr>
              <a:t>Python / ML</a:t>
            </a:r>
            <a:endParaRPr lang="en-US" sz="1300" dirty="0"/>
          </a:p>
        </p:txBody>
      </p:sp>
      <p:sp>
        <p:nvSpPr>
          <p:cNvPr id="23" name="Text 21"/>
          <p:cNvSpPr/>
          <p:nvPr/>
        </p:nvSpPr>
        <p:spPr>
          <a:xfrm>
            <a:off x="320040" y="3611880"/>
            <a:ext cx="2651760" cy="914400"/>
          </a:xfrm>
          <a:prstGeom prst="rect">
            <a:avLst/>
          </a:prstGeom>
          <a:noFill/>
          <a:ln/>
        </p:spPr>
        <p:txBody>
          <a:bodyPr wrap="square" lIns="0" tIns="0" rIns="0" bIns="0" rtlCol="0" anchor="ctr"/>
          <a:lstStyle/>
          <a:p>
            <a:pPr marL="0" indent="0">
              <a:buNone/>
            </a:pPr>
            <a:r>
              <a:rPr lang="en-US" sz="950" dirty="0">
                <a:solidFill>
                  <a:srgbClr val="1E2D3D"/>
                </a:solidFill>
              </a:rPr>
              <a:t>Random Forest for waste prediction; LSTM for traffic &amp; energy demand forecasting.</a:t>
            </a:r>
            <a:endParaRPr lang="en-US" sz="950" dirty="0"/>
          </a:p>
        </p:txBody>
      </p:sp>
      <p:sp>
        <p:nvSpPr>
          <p:cNvPr id="24" name="Shape 22"/>
          <p:cNvSpPr/>
          <p:nvPr/>
        </p:nvSpPr>
        <p:spPr>
          <a:xfrm>
            <a:off x="3246120" y="2898648"/>
            <a:ext cx="2834640" cy="1691640"/>
          </a:xfrm>
          <a:prstGeom prst="rect">
            <a:avLst/>
          </a:prstGeom>
          <a:solidFill>
            <a:srgbClr val="E8F4F8"/>
          </a:solidFill>
          <a:ln/>
          <a:effectLst>
            <a:outerShdw blurRad="101600" dist="38100" dir="8100000" algn="bl" rotWithShape="0">
              <a:srgbClr val="000000">
                <a:alpha val="12000"/>
              </a:srgbClr>
            </a:outerShdw>
          </a:effectLst>
        </p:spPr>
      </p:sp>
      <p:sp>
        <p:nvSpPr>
          <p:cNvPr id="25" name="Shape 23"/>
          <p:cNvSpPr/>
          <p:nvPr/>
        </p:nvSpPr>
        <p:spPr>
          <a:xfrm>
            <a:off x="3246120" y="2898648"/>
            <a:ext cx="2834640" cy="73152"/>
          </a:xfrm>
          <a:prstGeom prst="rect">
            <a:avLst/>
          </a:prstGeom>
          <a:solidFill>
            <a:srgbClr val="02C39A"/>
          </a:solidFill>
          <a:ln/>
        </p:spPr>
      </p:sp>
      <p:sp>
        <p:nvSpPr>
          <p:cNvPr id="26" name="Text 24"/>
          <p:cNvSpPr/>
          <p:nvPr/>
        </p:nvSpPr>
        <p:spPr>
          <a:xfrm>
            <a:off x="3337560" y="3008376"/>
            <a:ext cx="2651760" cy="256032"/>
          </a:xfrm>
          <a:prstGeom prst="rect">
            <a:avLst/>
          </a:prstGeom>
          <a:noFill/>
          <a:ln/>
        </p:spPr>
        <p:txBody>
          <a:bodyPr wrap="square" lIns="0" tIns="0" rIns="0" bIns="0" rtlCol="0" anchor="ctr"/>
          <a:lstStyle/>
          <a:p>
            <a:pPr marL="0" indent="0">
              <a:buNone/>
            </a:pPr>
            <a:r>
              <a:rPr lang="en-US" sz="850" b="1" dirty="0">
                <a:solidFill>
                  <a:srgbClr val="02C39A"/>
                </a:solidFill>
              </a:rPr>
              <a:t>VISUALISATION</a:t>
            </a:r>
            <a:endParaRPr lang="en-US" sz="850" dirty="0"/>
          </a:p>
        </p:txBody>
      </p:sp>
      <p:sp>
        <p:nvSpPr>
          <p:cNvPr id="27" name="Text 25"/>
          <p:cNvSpPr/>
          <p:nvPr/>
        </p:nvSpPr>
        <p:spPr>
          <a:xfrm>
            <a:off x="3337560" y="3264408"/>
            <a:ext cx="2651760" cy="320040"/>
          </a:xfrm>
          <a:prstGeom prst="rect">
            <a:avLst/>
          </a:prstGeom>
          <a:noFill/>
          <a:ln/>
        </p:spPr>
        <p:txBody>
          <a:bodyPr wrap="square" lIns="0" tIns="0" rIns="0" bIns="0" rtlCol="0" anchor="ctr"/>
          <a:lstStyle/>
          <a:p>
            <a:pPr marL="0" indent="0">
              <a:buNone/>
            </a:pPr>
            <a:r>
              <a:rPr lang="en-US" sz="1300" b="1" dirty="0">
                <a:solidFill>
                  <a:srgbClr val="0A2342"/>
                </a:solidFill>
              </a:rPr>
              <a:t>Tableau / PowerBI</a:t>
            </a:r>
            <a:endParaRPr lang="en-US" sz="1300" dirty="0"/>
          </a:p>
        </p:txBody>
      </p:sp>
      <p:sp>
        <p:nvSpPr>
          <p:cNvPr id="28" name="Text 26"/>
          <p:cNvSpPr/>
          <p:nvPr/>
        </p:nvSpPr>
        <p:spPr>
          <a:xfrm>
            <a:off x="3337560" y="3611880"/>
            <a:ext cx="2651760" cy="914400"/>
          </a:xfrm>
          <a:prstGeom prst="rect">
            <a:avLst/>
          </a:prstGeom>
          <a:noFill/>
          <a:ln/>
        </p:spPr>
        <p:txBody>
          <a:bodyPr wrap="square" lIns="0" tIns="0" rIns="0" bIns="0" rtlCol="0" anchor="ctr"/>
          <a:lstStyle/>
          <a:p>
            <a:pPr marL="0" indent="0">
              <a:buNone/>
            </a:pPr>
            <a:r>
              <a:rPr lang="en-US" sz="950" dirty="0">
                <a:solidFill>
                  <a:srgbClr val="1E2D3D"/>
                </a:solidFill>
              </a:rPr>
              <a:t>Real-time dashboards for city administrators with geo-heatmaps and KPI alerts.</a:t>
            </a:r>
            <a:endParaRPr lang="en-US" sz="950" dirty="0"/>
          </a:p>
        </p:txBody>
      </p:sp>
      <p:sp>
        <p:nvSpPr>
          <p:cNvPr id="29" name="Shape 27"/>
          <p:cNvSpPr/>
          <p:nvPr/>
        </p:nvSpPr>
        <p:spPr>
          <a:xfrm>
            <a:off x="6263640" y="2898648"/>
            <a:ext cx="2834640" cy="1691640"/>
          </a:xfrm>
          <a:prstGeom prst="rect">
            <a:avLst/>
          </a:prstGeom>
          <a:solidFill>
            <a:srgbClr val="E8F4F8"/>
          </a:solidFill>
          <a:ln/>
          <a:effectLst>
            <a:outerShdw blurRad="101600" dist="38100" dir="8100000" algn="bl" rotWithShape="0">
              <a:srgbClr val="000000">
                <a:alpha val="12000"/>
              </a:srgbClr>
            </a:outerShdw>
          </a:effectLst>
        </p:spPr>
      </p:sp>
      <p:sp>
        <p:nvSpPr>
          <p:cNvPr id="30" name="Shape 28"/>
          <p:cNvSpPr/>
          <p:nvPr/>
        </p:nvSpPr>
        <p:spPr>
          <a:xfrm>
            <a:off x="6263640" y="2898648"/>
            <a:ext cx="2834640" cy="73152"/>
          </a:xfrm>
          <a:prstGeom prst="rect">
            <a:avLst/>
          </a:prstGeom>
          <a:solidFill>
            <a:srgbClr val="02C39A"/>
          </a:solidFill>
          <a:ln/>
        </p:spPr>
      </p:sp>
      <p:sp>
        <p:nvSpPr>
          <p:cNvPr id="31" name="Text 29"/>
          <p:cNvSpPr/>
          <p:nvPr/>
        </p:nvSpPr>
        <p:spPr>
          <a:xfrm>
            <a:off x="6355080" y="3008376"/>
            <a:ext cx="2651760" cy="256032"/>
          </a:xfrm>
          <a:prstGeom prst="rect">
            <a:avLst/>
          </a:prstGeom>
          <a:noFill/>
          <a:ln/>
        </p:spPr>
        <p:txBody>
          <a:bodyPr wrap="square" lIns="0" tIns="0" rIns="0" bIns="0" rtlCol="0" anchor="ctr"/>
          <a:lstStyle/>
          <a:p>
            <a:pPr marL="0" indent="0">
              <a:buNone/>
            </a:pPr>
            <a:r>
              <a:rPr lang="en-US" sz="850" b="1" dirty="0">
                <a:solidFill>
                  <a:srgbClr val="02C39A"/>
                </a:solidFill>
              </a:rPr>
              <a:t>INTEGRATION</a:t>
            </a:r>
            <a:endParaRPr lang="en-US" sz="850" dirty="0"/>
          </a:p>
        </p:txBody>
      </p:sp>
      <p:sp>
        <p:nvSpPr>
          <p:cNvPr id="32" name="Text 30"/>
          <p:cNvSpPr/>
          <p:nvPr/>
        </p:nvSpPr>
        <p:spPr>
          <a:xfrm>
            <a:off x="6355080" y="3264408"/>
            <a:ext cx="2651760" cy="320040"/>
          </a:xfrm>
          <a:prstGeom prst="rect">
            <a:avLst/>
          </a:prstGeom>
          <a:noFill/>
          <a:ln/>
        </p:spPr>
        <p:txBody>
          <a:bodyPr wrap="square" lIns="0" tIns="0" rIns="0" bIns="0" rtlCol="0" anchor="ctr"/>
          <a:lstStyle/>
          <a:p>
            <a:pPr marL="0" indent="0">
              <a:buNone/>
            </a:pPr>
            <a:r>
              <a:rPr lang="en-US" sz="1300" b="1" dirty="0">
                <a:solidFill>
                  <a:srgbClr val="0A2342"/>
                </a:solidFill>
              </a:rPr>
              <a:t>APIs &amp; Cloud</a:t>
            </a:r>
            <a:endParaRPr lang="en-US" sz="1300" dirty="0"/>
          </a:p>
        </p:txBody>
      </p:sp>
      <p:sp>
        <p:nvSpPr>
          <p:cNvPr id="33" name="Text 31"/>
          <p:cNvSpPr/>
          <p:nvPr/>
        </p:nvSpPr>
        <p:spPr>
          <a:xfrm>
            <a:off x="6355080" y="3611880"/>
            <a:ext cx="2651760" cy="914400"/>
          </a:xfrm>
          <a:prstGeom prst="rect">
            <a:avLst/>
          </a:prstGeom>
          <a:noFill/>
          <a:ln/>
        </p:spPr>
        <p:txBody>
          <a:bodyPr wrap="square" lIns="0" tIns="0" rIns="0" bIns="0" rtlCol="0" anchor="ctr"/>
          <a:lstStyle/>
          <a:p>
            <a:pPr marL="0" indent="0">
              <a:buNone/>
            </a:pPr>
            <a:r>
              <a:rPr lang="en-US" sz="950" dirty="0">
                <a:solidFill>
                  <a:srgbClr val="1E2D3D"/>
                </a:solidFill>
              </a:rPr>
              <a:t>Google Maps API, OpenWeather API, AWS/Azure for scalable deployment.</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2342"/>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2C39A"/>
          </a:solidFill>
          <a:ln/>
        </p:spPr>
      </p:sp>
      <p:sp>
        <p:nvSpPr>
          <p:cNvPr id="3" name="Text 1"/>
          <p:cNvSpPr/>
          <p:nvPr/>
        </p:nvSpPr>
        <p:spPr>
          <a:xfrm>
            <a:off x="365760" y="182880"/>
            <a:ext cx="8412480" cy="548640"/>
          </a:xfrm>
          <a:prstGeom prst="rect">
            <a:avLst/>
          </a:prstGeom>
          <a:noFill/>
          <a:ln/>
        </p:spPr>
        <p:txBody>
          <a:bodyPr wrap="square" lIns="0" tIns="0" rIns="0" bIns="0" rtlCol="0" anchor="ctr"/>
          <a:lstStyle/>
          <a:p>
            <a:pPr marL="0" indent="0">
              <a:buNone/>
            </a:pPr>
            <a:r>
              <a:rPr lang="en-US" sz="2000" b="1" dirty="0">
                <a:solidFill>
                  <a:srgbClr val="FFFFFF"/>
                </a:solidFill>
              </a:rPr>
              <a:t>05  |  WORKING PROCESS  —  DATA PIPELINE</a:t>
            </a:r>
            <a:endParaRPr lang="en-US" sz="2000" dirty="0"/>
          </a:p>
        </p:txBody>
      </p:sp>
      <p:sp>
        <p:nvSpPr>
          <p:cNvPr id="4" name="Shape 2"/>
          <p:cNvSpPr/>
          <p:nvPr/>
        </p:nvSpPr>
        <p:spPr>
          <a:xfrm>
            <a:off x="274320" y="868680"/>
            <a:ext cx="1554480" cy="3474720"/>
          </a:xfrm>
          <a:prstGeom prst="rect">
            <a:avLst/>
          </a:prstGeom>
          <a:solidFill>
            <a:srgbClr val="1C7293"/>
          </a:solidFill>
          <a:ln/>
          <a:effectLst>
            <a:outerShdw blurRad="101600" dist="38100" dir="8100000" algn="bl" rotWithShape="0">
              <a:srgbClr val="000000">
                <a:alpha val="12000"/>
              </a:srgbClr>
            </a:outerShdw>
          </a:effectLst>
        </p:spPr>
      </p:sp>
      <p:sp>
        <p:nvSpPr>
          <p:cNvPr id="5" name="Text 3"/>
          <p:cNvSpPr/>
          <p:nvPr/>
        </p:nvSpPr>
        <p:spPr>
          <a:xfrm>
            <a:off x="274320" y="914400"/>
            <a:ext cx="1554480" cy="685800"/>
          </a:xfrm>
          <a:prstGeom prst="rect">
            <a:avLst/>
          </a:prstGeom>
          <a:noFill/>
          <a:ln/>
        </p:spPr>
        <p:txBody>
          <a:bodyPr wrap="square" lIns="0" tIns="0" rIns="0" bIns="0" rtlCol="0" anchor="ctr"/>
          <a:lstStyle/>
          <a:p>
            <a:pPr marL="0" indent="0" algn="ctr">
              <a:buNone/>
            </a:pPr>
            <a:r>
              <a:rPr lang="en-US" sz="1100" b="1" dirty="0">
                <a:solidFill>
                  <a:srgbClr val="FFFFFF"/>
                </a:solidFill>
              </a:rPr>
              <a:t>DATA</a:t>
            </a:r>
            <a:endParaRPr lang="en-US" sz="1100" dirty="0"/>
          </a:p>
          <a:p>
            <a:pPr marL="0" indent="0" algn="ctr">
              <a:buNone/>
            </a:pPr>
            <a:r>
              <a:rPr lang="en-US" sz="1100" b="1" dirty="0">
                <a:solidFill>
                  <a:srgbClr val="FFFFFF"/>
                </a:solidFill>
              </a:rPr>
              <a:t>SOURCES</a:t>
            </a:r>
            <a:endParaRPr lang="en-US" sz="1100" dirty="0"/>
          </a:p>
        </p:txBody>
      </p:sp>
      <p:sp>
        <p:nvSpPr>
          <p:cNvPr id="6" name="Shape 4"/>
          <p:cNvSpPr/>
          <p:nvPr/>
        </p:nvSpPr>
        <p:spPr>
          <a:xfrm>
            <a:off x="365760" y="1627632"/>
            <a:ext cx="1371600" cy="18288"/>
          </a:xfrm>
          <a:prstGeom prst="rect">
            <a:avLst/>
          </a:prstGeom>
          <a:solidFill>
            <a:srgbClr val="FFFFFF">
              <a:alpha val="40000"/>
            </a:srgbClr>
          </a:solidFill>
          <a:ln/>
        </p:spPr>
      </p:sp>
      <p:sp>
        <p:nvSpPr>
          <p:cNvPr id="7" name="Text 5"/>
          <p:cNvSpPr/>
          <p:nvPr/>
        </p:nvSpPr>
        <p:spPr>
          <a:xfrm>
            <a:off x="320040" y="1691640"/>
            <a:ext cx="1463040" cy="2468880"/>
          </a:xfrm>
          <a:prstGeom prst="rect">
            <a:avLst/>
          </a:prstGeom>
          <a:noFill/>
          <a:ln/>
        </p:spPr>
        <p:txBody>
          <a:bodyPr wrap="square" lIns="0" tIns="0" rIns="0" bIns="0" rtlCol="0" anchor="t"/>
          <a:lstStyle/>
          <a:p>
            <a:pPr marL="0" indent="0" algn="ctr">
              <a:buNone/>
            </a:pPr>
            <a:r>
              <a:rPr lang="en-US" sz="900" dirty="0">
                <a:solidFill>
                  <a:srgbClr val="FFFFFF"/>
                </a:solidFill>
              </a:rPr>
              <a:t>IoT Sensors</a:t>
            </a:r>
            <a:endParaRPr lang="en-US" sz="900" dirty="0"/>
          </a:p>
          <a:p>
            <a:pPr marL="0" indent="0" algn="ctr">
              <a:buNone/>
            </a:pPr>
            <a:r>
              <a:rPr lang="en-US" sz="900" dirty="0">
                <a:solidFill>
                  <a:srgbClr val="FFFFFF"/>
                </a:solidFill>
              </a:rPr>
              <a:t>CCTV/GPS</a:t>
            </a:r>
            <a:endParaRPr lang="en-US" sz="900" dirty="0"/>
          </a:p>
          <a:p>
            <a:pPr marL="0" indent="0" algn="ctr">
              <a:buNone/>
            </a:pPr>
            <a:r>
              <a:rPr lang="en-US" sz="900" dirty="0">
                <a:solidFill>
                  <a:srgbClr val="FFFFFF"/>
                </a:solidFill>
              </a:rPr>
              <a:t>Smart Meters</a:t>
            </a:r>
            <a:endParaRPr lang="en-US" sz="900" dirty="0"/>
          </a:p>
          <a:p>
            <a:pPr marL="0" indent="0" algn="ctr">
              <a:buNone/>
            </a:pPr>
            <a:r>
              <a:rPr lang="en-US" sz="900" dirty="0">
                <a:solidFill>
                  <a:srgbClr val="FFFFFF"/>
                </a:solidFill>
              </a:rPr>
              <a:t>Mobile Apps</a:t>
            </a:r>
            <a:endParaRPr lang="en-US" sz="900" dirty="0"/>
          </a:p>
        </p:txBody>
      </p:sp>
      <p:sp>
        <p:nvSpPr>
          <p:cNvPr id="8" name="Shape 6"/>
          <p:cNvSpPr/>
          <p:nvPr/>
        </p:nvSpPr>
        <p:spPr>
          <a:xfrm>
            <a:off x="1856232" y="2487168"/>
            <a:ext cx="146304" cy="73152"/>
          </a:xfrm>
          <a:prstGeom prst="rect">
            <a:avLst/>
          </a:prstGeom>
          <a:solidFill>
            <a:srgbClr val="02C39A"/>
          </a:solidFill>
          <a:ln/>
        </p:spPr>
      </p:sp>
      <p:sp>
        <p:nvSpPr>
          <p:cNvPr id="9" name="Shape 7"/>
          <p:cNvSpPr/>
          <p:nvPr/>
        </p:nvSpPr>
        <p:spPr>
          <a:xfrm>
            <a:off x="1993392" y="2423160"/>
            <a:ext cx="45720" cy="201168"/>
          </a:xfrm>
          <a:prstGeom prst="rect">
            <a:avLst/>
          </a:prstGeom>
          <a:solidFill>
            <a:srgbClr val="02C39A"/>
          </a:solidFill>
          <a:ln/>
        </p:spPr>
      </p:sp>
      <p:sp>
        <p:nvSpPr>
          <p:cNvPr id="10" name="Shape 8"/>
          <p:cNvSpPr/>
          <p:nvPr/>
        </p:nvSpPr>
        <p:spPr>
          <a:xfrm>
            <a:off x="2029968" y="868680"/>
            <a:ext cx="1554480" cy="3474720"/>
          </a:xfrm>
          <a:prstGeom prst="rect">
            <a:avLst/>
          </a:prstGeom>
          <a:solidFill>
            <a:srgbClr val="065A82"/>
          </a:solidFill>
          <a:ln/>
          <a:effectLst>
            <a:outerShdw blurRad="101600" dist="38100" dir="8100000" algn="bl" rotWithShape="0">
              <a:srgbClr val="000000">
                <a:alpha val="12000"/>
              </a:srgbClr>
            </a:outerShdw>
          </a:effectLst>
        </p:spPr>
      </p:sp>
      <p:sp>
        <p:nvSpPr>
          <p:cNvPr id="11" name="Text 9"/>
          <p:cNvSpPr/>
          <p:nvPr/>
        </p:nvSpPr>
        <p:spPr>
          <a:xfrm>
            <a:off x="2029968" y="914400"/>
            <a:ext cx="1554480" cy="685800"/>
          </a:xfrm>
          <a:prstGeom prst="rect">
            <a:avLst/>
          </a:prstGeom>
          <a:noFill/>
          <a:ln/>
        </p:spPr>
        <p:txBody>
          <a:bodyPr wrap="square" lIns="0" tIns="0" rIns="0" bIns="0" rtlCol="0" anchor="ctr"/>
          <a:lstStyle/>
          <a:p>
            <a:pPr marL="0" indent="0" algn="ctr">
              <a:buNone/>
            </a:pPr>
            <a:r>
              <a:rPr lang="en-US" sz="1100" b="1" dirty="0">
                <a:solidFill>
                  <a:srgbClr val="FFFFFF"/>
                </a:solidFill>
              </a:rPr>
              <a:t>INGESTION</a:t>
            </a:r>
            <a:endParaRPr lang="en-US" sz="1100" dirty="0"/>
          </a:p>
        </p:txBody>
      </p:sp>
      <p:sp>
        <p:nvSpPr>
          <p:cNvPr id="12" name="Shape 10"/>
          <p:cNvSpPr/>
          <p:nvPr/>
        </p:nvSpPr>
        <p:spPr>
          <a:xfrm>
            <a:off x="2121408" y="1627632"/>
            <a:ext cx="1371600" cy="18288"/>
          </a:xfrm>
          <a:prstGeom prst="rect">
            <a:avLst/>
          </a:prstGeom>
          <a:solidFill>
            <a:srgbClr val="FFFFFF">
              <a:alpha val="40000"/>
            </a:srgbClr>
          </a:solidFill>
          <a:ln/>
        </p:spPr>
      </p:sp>
      <p:sp>
        <p:nvSpPr>
          <p:cNvPr id="13" name="Text 11"/>
          <p:cNvSpPr/>
          <p:nvPr/>
        </p:nvSpPr>
        <p:spPr>
          <a:xfrm>
            <a:off x="2075688" y="1691640"/>
            <a:ext cx="1463040" cy="2468880"/>
          </a:xfrm>
          <a:prstGeom prst="rect">
            <a:avLst/>
          </a:prstGeom>
          <a:noFill/>
          <a:ln/>
        </p:spPr>
        <p:txBody>
          <a:bodyPr wrap="square" lIns="0" tIns="0" rIns="0" bIns="0" rtlCol="0" anchor="t"/>
          <a:lstStyle/>
          <a:p>
            <a:pPr marL="0" indent="0" algn="ctr">
              <a:buNone/>
            </a:pPr>
            <a:r>
              <a:rPr lang="en-US" sz="900" dirty="0">
                <a:solidFill>
                  <a:srgbClr val="FFFFFF"/>
                </a:solidFill>
              </a:rPr>
              <a:t>Apache Kafka</a:t>
            </a:r>
            <a:endParaRPr lang="en-US" sz="900" dirty="0"/>
          </a:p>
          <a:p>
            <a:pPr marL="0" indent="0" algn="ctr">
              <a:buNone/>
            </a:pPr>
            <a:r>
              <a:rPr lang="en-US" sz="900" dirty="0">
                <a:solidFill>
                  <a:srgbClr val="FFFFFF"/>
                </a:solidFill>
              </a:rPr>
              <a:t>MQTT Broker</a:t>
            </a:r>
            <a:endParaRPr lang="en-US" sz="900" dirty="0"/>
          </a:p>
          <a:p>
            <a:pPr marL="0" indent="0" algn="ctr">
              <a:buNone/>
            </a:pPr>
            <a:r>
              <a:rPr lang="en-US" sz="900" dirty="0">
                <a:solidFill>
                  <a:srgbClr val="FFFFFF"/>
                </a:solidFill>
              </a:rPr>
              <a:t>REST APIs</a:t>
            </a:r>
            <a:endParaRPr lang="en-US" sz="900" dirty="0"/>
          </a:p>
          <a:p>
            <a:pPr marL="0" indent="0" algn="ctr">
              <a:buNone/>
            </a:pPr>
            <a:r>
              <a:rPr lang="en-US" sz="900" dirty="0">
                <a:solidFill>
                  <a:srgbClr val="FFFFFF"/>
                </a:solidFill>
              </a:rPr>
              <a:t>Batch Uploads</a:t>
            </a:r>
            <a:endParaRPr lang="en-US" sz="900" dirty="0"/>
          </a:p>
        </p:txBody>
      </p:sp>
      <p:sp>
        <p:nvSpPr>
          <p:cNvPr id="14" name="Shape 12"/>
          <p:cNvSpPr/>
          <p:nvPr/>
        </p:nvSpPr>
        <p:spPr>
          <a:xfrm>
            <a:off x="3611880" y="2487168"/>
            <a:ext cx="146304" cy="73152"/>
          </a:xfrm>
          <a:prstGeom prst="rect">
            <a:avLst/>
          </a:prstGeom>
          <a:solidFill>
            <a:srgbClr val="02C39A"/>
          </a:solidFill>
          <a:ln/>
        </p:spPr>
      </p:sp>
      <p:sp>
        <p:nvSpPr>
          <p:cNvPr id="15" name="Shape 13"/>
          <p:cNvSpPr/>
          <p:nvPr/>
        </p:nvSpPr>
        <p:spPr>
          <a:xfrm>
            <a:off x="3749040" y="2423160"/>
            <a:ext cx="45720" cy="201168"/>
          </a:xfrm>
          <a:prstGeom prst="rect">
            <a:avLst/>
          </a:prstGeom>
          <a:solidFill>
            <a:srgbClr val="02C39A"/>
          </a:solidFill>
          <a:ln/>
        </p:spPr>
      </p:sp>
      <p:sp>
        <p:nvSpPr>
          <p:cNvPr id="16" name="Shape 14"/>
          <p:cNvSpPr/>
          <p:nvPr/>
        </p:nvSpPr>
        <p:spPr>
          <a:xfrm>
            <a:off x="3785616" y="868680"/>
            <a:ext cx="1554480" cy="3474720"/>
          </a:xfrm>
          <a:prstGeom prst="rect">
            <a:avLst/>
          </a:prstGeom>
          <a:solidFill>
            <a:srgbClr val="0D5F7A"/>
          </a:solidFill>
          <a:ln/>
          <a:effectLst>
            <a:outerShdw blurRad="101600" dist="38100" dir="8100000" algn="bl" rotWithShape="0">
              <a:srgbClr val="000000">
                <a:alpha val="12000"/>
              </a:srgbClr>
            </a:outerShdw>
          </a:effectLst>
        </p:spPr>
      </p:sp>
      <p:sp>
        <p:nvSpPr>
          <p:cNvPr id="17" name="Text 15"/>
          <p:cNvSpPr/>
          <p:nvPr/>
        </p:nvSpPr>
        <p:spPr>
          <a:xfrm>
            <a:off x="3785616" y="914400"/>
            <a:ext cx="1554480" cy="685800"/>
          </a:xfrm>
          <a:prstGeom prst="rect">
            <a:avLst/>
          </a:prstGeom>
          <a:noFill/>
          <a:ln/>
        </p:spPr>
        <p:txBody>
          <a:bodyPr wrap="square" lIns="0" tIns="0" rIns="0" bIns="0" rtlCol="0" anchor="ctr"/>
          <a:lstStyle/>
          <a:p>
            <a:pPr marL="0" indent="0" algn="ctr">
              <a:buNone/>
            </a:pPr>
            <a:r>
              <a:rPr lang="en-US" sz="1100" b="1" dirty="0">
                <a:solidFill>
                  <a:srgbClr val="FFFFFF"/>
                </a:solidFill>
              </a:rPr>
              <a:t>PROCESSING</a:t>
            </a:r>
            <a:endParaRPr lang="en-US" sz="1100" dirty="0"/>
          </a:p>
        </p:txBody>
      </p:sp>
      <p:sp>
        <p:nvSpPr>
          <p:cNvPr id="18" name="Shape 16"/>
          <p:cNvSpPr/>
          <p:nvPr/>
        </p:nvSpPr>
        <p:spPr>
          <a:xfrm>
            <a:off x="3877056" y="1627632"/>
            <a:ext cx="1371600" cy="18288"/>
          </a:xfrm>
          <a:prstGeom prst="rect">
            <a:avLst/>
          </a:prstGeom>
          <a:solidFill>
            <a:srgbClr val="FFFFFF">
              <a:alpha val="40000"/>
            </a:srgbClr>
          </a:solidFill>
          <a:ln/>
        </p:spPr>
      </p:sp>
      <p:sp>
        <p:nvSpPr>
          <p:cNvPr id="19" name="Text 17"/>
          <p:cNvSpPr/>
          <p:nvPr/>
        </p:nvSpPr>
        <p:spPr>
          <a:xfrm>
            <a:off x="3831336" y="1691640"/>
            <a:ext cx="1463040" cy="2468880"/>
          </a:xfrm>
          <a:prstGeom prst="rect">
            <a:avLst/>
          </a:prstGeom>
          <a:noFill/>
          <a:ln/>
        </p:spPr>
        <p:txBody>
          <a:bodyPr wrap="square" lIns="0" tIns="0" rIns="0" bIns="0" rtlCol="0" anchor="t"/>
          <a:lstStyle/>
          <a:p>
            <a:pPr marL="0" indent="0" algn="ctr">
              <a:buNone/>
            </a:pPr>
            <a:r>
              <a:rPr lang="en-US" sz="900" dirty="0">
                <a:solidFill>
                  <a:srgbClr val="FFFFFF"/>
                </a:solidFill>
              </a:rPr>
              <a:t>Apache Spark</a:t>
            </a:r>
            <a:endParaRPr lang="en-US" sz="900" dirty="0"/>
          </a:p>
          <a:p>
            <a:pPr marL="0" indent="0" algn="ctr">
              <a:buNone/>
            </a:pPr>
            <a:r>
              <a:rPr lang="en-US" sz="900" dirty="0">
                <a:solidFill>
                  <a:srgbClr val="FFFFFF"/>
                </a:solidFill>
              </a:rPr>
              <a:t>Hadoop</a:t>
            </a:r>
            <a:endParaRPr lang="en-US" sz="900" dirty="0"/>
          </a:p>
          <a:p>
            <a:pPr marL="0" indent="0" algn="ctr">
              <a:buNone/>
            </a:pPr>
            <a:r>
              <a:rPr lang="en-US" sz="900" dirty="0">
                <a:solidFill>
                  <a:srgbClr val="FFFFFF"/>
                </a:solidFill>
              </a:rPr>
              <a:t>Stream + Batch</a:t>
            </a:r>
            <a:endParaRPr lang="en-US" sz="900" dirty="0"/>
          </a:p>
          <a:p>
            <a:pPr marL="0" indent="0" algn="ctr">
              <a:buNone/>
            </a:pPr>
            <a:r>
              <a:rPr lang="en-US" sz="900" dirty="0">
                <a:solidFill>
                  <a:srgbClr val="FFFFFF"/>
                </a:solidFill>
              </a:rPr>
              <a:t>ML Models</a:t>
            </a:r>
            <a:endParaRPr lang="en-US" sz="900" dirty="0"/>
          </a:p>
        </p:txBody>
      </p:sp>
      <p:sp>
        <p:nvSpPr>
          <p:cNvPr id="20" name="Shape 18"/>
          <p:cNvSpPr/>
          <p:nvPr/>
        </p:nvSpPr>
        <p:spPr>
          <a:xfrm>
            <a:off x="5367528" y="2487168"/>
            <a:ext cx="146304" cy="73152"/>
          </a:xfrm>
          <a:prstGeom prst="rect">
            <a:avLst/>
          </a:prstGeom>
          <a:solidFill>
            <a:srgbClr val="02C39A"/>
          </a:solidFill>
          <a:ln/>
        </p:spPr>
      </p:sp>
      <p:sp>
        <p:nvSpPr>
          <p:cNvPr id="21" name="Shape 19"/>
          <p:cNvSpPr/>
          <p:nvPr/>
        </p:nvSpPr>
        <p:spPr>
          <a:xfrm>
            <a:off x="5504688" y="2423160"/>
            <a:ext cx="45720" cy="201168"/>
          </a:xfrm>
          <a:prstGeom prst="rect">
            <a:avLst/>
          </a:prstGeom>
          <a:solidFill>
            <a:srgbClr val="02C39A"/>
          </a:solidFill>
          <a:ln/>
        </p:spPr>
      </p:sp>
      <p:sp>
        <p:nvSpPr>
          <p:cNvPr id="22" name="Shape 20"/>
          <p:cNvSpPr/>
          <p:nvPr/>
        </p:nvSpPr>
        <p:spPr>
          <a:xfrm>
            <a:off x="5541264" y="868680"/>
            <a:ext cx="1554480" cy="3474720"/>
          </a:xfrm>
          <a:prstGeom prst="rect">
            <a:avLst/>
          </a:prstGeom>
          <a:solidFill>
            <a:srgbClr val="0A4A60"/>
          </a:solidFill>
          <a:ln/>
          <a:effectLst>
            <a:outerShdw blurRad="101600" dist="38100" dir="8100000" algn="bl" rotWithShape="0">
              <a:srgbClr val="000000">
                <a:alpha val="12000"/>
              </a:srgbClr>
            </a:outerShdw>
          </a:effectLst>
        </p:spPr>
      </p:sp>
      <p:sp>
        <p:nvSpPr>
          <p:cNvPr id="23" name="Text 21"/>
          <p:cNvSpPr/>
          <p:nvPr/>
        </p:nvSpPr>
        <p:spPr>
          <a:xfrm>
            <a:off x="5541264" y="914400"/>
            <a:ext cx="1554480" cy="685800"/>
          </a:xfrm>
          <a:prstGeom prst="rect">
            <a:avLst/>
          </a:prstGeom>
          <a:noFill/>
          <a:ln/>
        </p:spPr>
        <p:txBody>
          <a:bodyPr wrap="square" lIns="0" tIns="0" rIns="0" bIns="0" rtlCol="0" anchor="ctr"/>
          <a:lstStyle/>
          <a:p>
            <a:pPr marL="0" indent="0" algn="ctr">
              <a:buNone/>
            </a:pPr>
            <a:r>
              <a:rPr lang="en-US" sz="1100" b="1" dirty="0">
                <a:solidFill>
                  <a:srgbClr val="FFFFFF"/>
                </a:solidFill>
              </a:rPr>
              <a:t>STORAGE</a:t>
            </a:r>
            <a:endParaRPr lang="en-US" sz="1100" dirty="0"/>
          </a:p>
        </p:txBody>
      </p:sp>
      <p:sp>
        <p:nvSpPr>
          <p:cNvPr id="24" name="Shape 22"/>
          <p:cNvSpPr/>
          <p:nvPr/>
        </p:nvSpPr>
        <p:spPr>
          <a:xfrm>
            <a:off x="5632704" y="1627632"/>
            <a:ext cx="1371600" cy="18288"/>
          </a:xfrm>
          <a:prstGeom prst="rect">
            <a:avLst/>
          </a:prstGeom>
          <a:solidFill>
            <a:srgbClr val="FFFFFF">
              <a:alpha val="40000"/>
            </a:srgbClr>
          </a:solidFill>
          <a:ln/>
        </p:spPr>
      </p:sp>
      <p:sp>
        <p:nvSpPr>
          <p:cNvPr id="25" name="Text 23"/>
          <p:cNvSpPr/>
          <p:nvPr/>
        </p:nvSpPr>
        <p:spPr>
          <a:xfrm>
            <a:off x="5586984" y="1691640"/>
            <a:ext cx="1463040" cy="2468880"/>
          </a:xfrm>
          <a:prstGeom prst="rect">
            <a:avLst/>
          </a:prstGeom>
          <a:noFill/>
          <a:ln/>
        </p:spPr>
        <p:txBody>
          <a:bodyPr wrap="square" lIns="0" tIns="0" rIns="0" bIns="0" rtlCol="0" anchor="t"/>
          <a:lstStyle/>
          <a:p>
            <a:pPr marL="0" indent="0" algn="ctr">
              <a:buNone/>
            </a:pPr>
            <a:r>
              <a:rPr lang="en-US" sz="900" dirty="0">
                <a:solidFill>
                  <a:srgbClr val="FFFFFF"/>
                </a:solidFill>
              </a:rPr>
              <a:t>HDFS</a:t>
            </a:r>
            <a:endParaRPr lang="en-US" sz="900" dirty="0"/>
          </a:p>
          <a:p>
            <a:pPr marL="0" indent="0" algn="ctr">
              <a:buNone/>
            </a:pPr>
            <a:r>
              <a:rPr lang="en-US" sz="900" dirty="0">
                <a:solidFill>
                  <a:srgbClr val="FFFFFF"/>
                </a:solidFill>
              </a:rPr>
              <a:t>NoSQL (HBase)</a:t>
            </a:r>
            <a:endParaRPr lang="en-US" sz="900" dirty="0"/>
          </a:p>
          <a:p>
            <a:pPr marL="0" indent="0" algn="ctr">
              <a:buNone/>
            </a:pPr>
            <a:r>
              <a:rPr lang="en-US" sz="900" dirty="0">
                <a:solidFill>
                  <a:srgbClr val="FFFFFF"/>
                </a:solidFill>
              </a:rPr>
              <a:t>Data Lake</a:t>
            </a:r>
            <a:endParaRPr lang="en-US" sz="900" dirty="0"/>
          </a:p>
          <a:p>
            <a:pPr marL="0" indent="0" algn="ctr">
              <a:buNone/>
            </a:pPr>
            <a:r>
              <a:rPr lang="en-US" sz="900" dirty="0">
                <a:solidFill>
                  <a:srgbClr val="FFFFFF"/>
                </a:solidFill>
              </a:rPr>
              <a:t>AWS S3</a:t>
            </a:r>
            <a:endParaRPr lang="en-US" sz="900" dirty="0"/>
          </a:p>
        </p:txBody>
      </p:sp>
      <p:sp>
        <p:nvSpPr>
          <p:cNvPr id="26" name="Shape 24"/>
          <p:cNvSpPr/>
          <p:nvPr/>
        </p:nvSpPr>
        <p:spPr>
          <a:xfrm>
            <a:off x="7123176" y="2487168"/>
            <a:ext cx="146304" cy="73152"/>
          </a:xfrm>
          <a:prstGeom prst="rect">
            <a:avLst/>
          </a:prstGeom>
          <a:solidFill>
            <a:srgbClr val="02C39A"/>
          </a:solidFill>
          <a:ln/>
        </p:spPr>
      </p:sp>
      <p:sp>
        <p:nvSpPr>
          <p:cNvPr id="27" name="Shape 25"/>
          <p:cNvSpPr/>
          <p:nvPr/>
        </p:nvSpPr>
        <p:spPr>
          <a:xfrm>
            <a:off x="7260336" y="2423160"/>
            <a:ext cx="45720" cy="201168"/>
          </a:xfrm>
          <a:prstGeom prst="rect">
            <a:avLst/>
          </a:prstGeom>
          <a:solidFill>
            <a:srgbClr val="02C39A"/>
          </a:solidFill>
          <a:ln/>
        </p:spPr>
      </p:sp>
      <p:sp>
        <p:nvSpPr>
          <p:cNvPr id="28" name="Shape 26"/>
          <p:cNvSpPr/>
          <p:nvPr/>
        </p:nvSpPr>
        <p:spPr>
          <a:xfrm>
            <a:off x="7296912" y="868680"/>
            <a:ext cx="1554480" cy="3474720"/>
          </a:xfrm>
          <a:prstGeom prst="rect">
            <a:avLst/>
          </a:prstGeom>
          <a:solidFill>
            <a:srgbClr val="02C39A"/>
          </a:solidFill>
          <a:ln/>
          <a:effectLst>
            <a:outerShdw blurRad="101600" dist="38100" dir="8100000" algn="bl" rotWithShape="0">
              <a:srgbClr val="000000">
                <a:alpha val="12000"/>
              </a:srgbClr>
            </a:outerShdw>
          </a:effectLst>
        </p:spPr>
      </p:sp>
      <p:sp>
        <p:nvSpPr>
          <p:cNvPr id="29" name="Text 27"/>
          <p:cNvSpPr/>
          <p:nvPr/>
        </p:nvSpPr>
        <p:spPr>
          <a:xfrm>
            <a:off x="7296912" y="914400"/>
            <a:ext cx="1554480" cy="685800"/>
          </a:xfrm>
          <a:prstGeom prst="rect">
            <a:avLst/>
          </a:prstGeom>
          <a:noFill/>
          <a:ln/>
        </p:spPr>
        <p:txBody>
          <a:bodyPr wrap="square" lIns="0" tIns="0" rIns="0" bIns="0" rtlCol="0" anchor="ctr"/>
          <a:lstStyle/>
          <a:p>
            <a:pPr marL="0" indent="0" algn="ctr">
              <a:buNone/>
            </a:pPr>
            <a:r>
              <a:rPr lang="en-US" sz="1100" b="1" dirty="0">
                <a:solidFill>
                  <a:srgbClr val="FFFFFF"/>
                </a:solidFill>
              </a:rPr>
              <a:t>ANALYTICS</a:t>
            </a:r>
            <a:endParaRPr lang="en-US" sz="1100" dirty="0"/>
          </a:p>
          <a:p>
            <a:pPr marL="0" indent="0" algn="ctr">
              <a:buNone/>
            </a:pPr>
            <a:r>
              <a:rPr lang="en-US" sz="1100" b="1" dirty="0">
                <a:solidFill>
                  <a:srgbClr val="FFFFFF"/>
                </a:solidFill>
              </a:rPr>
              <a:t>&amp; VISUALIZE</a:t>
            </a:r>
            <a:endParaRPr lang="en-US" sz="1100" dirty="0"/>
          </a:p>
        </p:txBody>
      </p:sp>
      <p:sp>
        <p:nvSpPr>
          <p:cNvPr id="30" name="Shape 28"/>
          <p:cNvSpPr/>
          <p:nvPr/>
        </p:nvSpPr>
        <p:spPr>
          <a:xfrm>
            <a:off x="7388352" y="1627632"/>
            <a:ext cx="1371600" cy="18288"/>
          </a:xfrm>
          <a:prstGeom prst="rect">
            <a:avLst/>
          </a:prstGeom>
          <a:solidFill>
            <a:srgbClr val="FFFFFF">
              <a:alpha val="40000"/>
            </a:srgbClr>
          </a:solidFill>
          <a:ln/>
        </p:spPr>
      </p:sp>
      <p:sp>
        <p:nvSpPr>
          <p:cNvPr id="31" name="Text 29"/>
          <p:cNvSpPr/>
          <p:nvPr/>
        </p:nvSpPr>
        <p:spPr>
          <a:xfrm>
            <a:off x="7342632" y="1691640"/>
            <a:ext cx="1463040" cy="2468880"/>
          </a:xfrm>
          <a:prstGeom prst="rect">
            <a:avLst/>
          </a:prstGeom>
          <a:noFill/>
          <a:ln/>
        </p:spPr>
        <p:txBody>
          <a:bodyPr wrap="square" lIns="0" tIns="0" rIns="0" bIns="0" rtlCol="0" anchor="t"/>
          <a:lstStyle/>
          <a:p>
            <a:pPr marL="0" indent="0" algn="ctr">
              <a:buNone/>
            </a:pPr>
            <a:r>
              <a:rPr lang="en-US" sz="900" dirty="0">
                <a:solidFill>
                  <a:srgbClr val="FFFFFF"/>
                </a:solidFill>
              </a:rPr>
              <a:t>Dashboard</a:t>
            </a:r>
            <a:endParaRPr lang="en-US" sz="900" dirty="0"/>
          </a:p>
          <a:p>
            <a:pPr marL="0" indent="0" algn="ctr">
              <a:buNone/>
            </a:pPr>
            <a:r>
              <a:rPr lang="en-US" sz="900" dirty="0">
                <a:solidFill>
                  <a:srgbClr val="FFFFFF"/>
                </a:solidFill>
              </a:rPr>
              <a:t>Alerts</a:t>
            </a:r>
            <a:endParaRPr lang="en-US" sz="900" dirty="0"/>
          </a:p>
          <a:p>
            <a:pPr marL="0" indent="0" algn="ctr">
              <a:buNone/>
            </a:pPr>
            <a:r>
              <a:rPr lang="en-US" sz="900" dirty="0">
                <a:solidFill>
                  <a:srgbClr val="FFFFFF"/>
                </a:solidFill>
              </a:rPr>
              <a:t>Forecasts</a:t>
            </a:r>
            <a:endParaRPr lang="en-US" sz="900" dirty="0"/>
          </a:p>
          <a:p>
            <a:pPr marL="0" indent="0" algn="ctr">
              <a:buNone/>
            </a:pPr>
            <a:r>
              <a:rPr lang="en-US" sz="900" dirty="0">
                <a:solidFill>
                  <a:srgbClr val="FFFFFF"/>
                </a:solidFill>
              </a:rPr>
              <a:t>Reports</a:t>
            </a:r>
            <a:endParaRPr lang="en-US" sz="900" dirty="0"/>
          </a:p>
        </p:txBody>
      </p:sp>
      <p:sp>
        <p:nvSpPr>
          <p:cNvPr id="32" name="Shape 30"/>
          <p:cNvSpPr/>
          <p:nvPr/>
        </p:nvSpPr>
        <p:spPr>
          <a:xfrm>
            <a:off x="274320" y="4480560"/>
            <a:ext cx="8503920" cy="457200"/>
          </a:xfrm>
          <a:prstGeom prst="rect">
            <a:avLst/>
          </a:prstGeom>
          <a:solidFill>
            <a:srgbClr val="065A82"/>
          </a:solidFill>
          <a:ln/>
        </p:spPr>
      </p:sp>
      <p:sp>
        <p:nvSpPr>
          <p:cNvPr id="33" name="Text 31"/>
          <p:cNvSpPr/>
          <p:nvPr/>
        </p:nvSpPr>
        <p:spPr>
          <a:xfrm>
            <a:off x="274320" y="4480560"/>
            <a:ext cx="8503920" cy="457200"/>
          </a:xfrm>
          <a:prstGeom prst="rect">
            <a:avLst/>
          </a:prstGeom>
          <a:noFill/>
          <a:ln/>
        </p:spPr>
        <p:txBody>
          <a:bodyPr wrap="square" lIns="0" tIns="0" rIns="0" bIns="0" rtlCol="0" anchor="ctr"/>
          <a:lstStyle/>
          <a:p>
            <a:pPr marL="0" indent="0" algn="ctr">
              <a:buNone/>
            </a:pPr>
            <a:r>
              <a:rPr lang="en-US" sz="1000" dirty="0">
                <a:solidFill>
                  <a:srgbClr val="FFFFFF"/>
                </a:solidFill>
              </a:rPr>
              <a:t>City Operations Centre  →  Actionable Decisions: Route Optimization | Signal Control | Load Balancing | Predictive Alerts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8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C7293"/>
          </a:solidFill>
          <a:ln/>
        </p:spPr>
      </p:sp>
      <p:sp>
        <p:nvSpPr>
          <p:cNvPr id="3" name="Text 1"/>
          <p:cNvSpPr/>
          <p:nvPr/>
        </p:nvSpPr>
        <p:spPr>
          <a:xfrm>
            <a:off x="365760" y="0"/>
            <a:ext cx="8229600" cy="914400"/>
          </a:xfrm>
          <a:prstGeom prst="rect">
            <a:avLst/>
          </a:prstGeom>
          <a:noFill/>
          <a:ln/>
        </p:spPr>
        <p:txBody>
          <a:bodyPr wrap="square" lIns="0" tIns="0" rIns="0" bIns="0" rtlCol="0" anchor="ctr"/>
          <a:lstStyle/>
          <a:p>
            <a:pPr marL="0" indent="0">
              <a:buNone/>
            </a:pPr>
            <a:r>
              <a:rPr lang="en-US" sz="2200" b="1" dirty="0">
                <a:solidFill>
                  <a:srgbClr val="FFFFFF"/>
                </a:solidFill>
              </a:rPr>
              <a:t>06  |  RESULTS &amp; IMPACT</a:t>
            </a:r>
            <a:endParaRPr lang="en-US" sz="2200" dirty="0"/>
          </a:p>
        </p:txBody>
      </p:sp>
      <p:sp>
        <p:nvSpPr>
          <p:cNvPr id="4" name="Shape 2"/>
          <p:cNvSpPr/>
          <p:nvPr/>
        </p:nvSpPr>
        <p:spPr>
          <a:xfrm>
            <a:off x="274320" y="1005840"/>
            <a:ext cx="1920240" cy="1508760"/>
          </a:xfrm>
          <a:prstGeom prst="rect">
            <a:avLst/>
          </a:prstGeom>
          <a:solidFill>
            <a:srgbClr val="0A2342"/>
          </a:solidFill>
          <a:ln/>
          <a:effectLst>
            <a:outerShdw blurRad="101600" dist="38100" dir="8100000" algn="bl" rotWithShape="0">
              <a:srgbClr val="000000">
                <a:alpha val="12000"/>
              </a:srgbClr>
            </a:outerShdw>
          </a:effectLst>
        </p:spPr>
      </p:sp>
      <p:sp>
        <p:nvSpPr>
          <p:cNvPr id="5" name="Text 3"/>
          <p:cNvSpPr/>
          <p:nvPr/>
        </p:nvSpPr>
        <p:spPr>
          <a:xfrm>
            <a:off x="274320" y="1097280"/>
            <a:ext cx="1920240" cy="731520"/>
          </a:xfrm>
          <a:prstGeom prst="rect">
            <a:avLst/>
          </a:prstGeom>
          <a:noFill/>
          <a:ln/>
        </p:spPr>
        <p:txBody>
          <a:bodyPr wrap="square" lIns="0" tIns="0" rIns="0" bIns="0" rtlCol="0" anchor="ctr"/>
          <a:lstStyle/>
          <a:p>
            <a:pPr marL="0" indent="0" algn="ctr">
              <a:buNone/>
            </a:pPr>
            <a:r>
              <a:rPr lang="en-US" sz="4000" b="1" dirty="0">
                <a:solidFill>
                  <a:srgbClr val="02C39A"/>
                </a:solidFill>
              </a:rPr>
              <a:t>30%</a:t>
            </a:r>
            <a:endParaRPr lang="en-US" sz="4000" dirty="0"/>
          </a:p>
        </p:txBody>
      </p:sp>
      <p:sp>
        <p:nvSpPr>
          <p:cNvPr id="6" name="Text 4"/>
          <p:cNvSpPr/>
          <p:nvPr/>
        </p:nvSpPr>
        <p:spPr>
          <a:xfrm>
            <a:off x="365760" y="1828800"/>
            <a:ext cx="1737360" cy="640080"/>
          </a:xfrm>
          <a:prstGeom prst="rect">
            <a:avLst/>
          </a:prstGeom>
          <a:noFill/>
          <a:ln/>
        </p:spPr>
        <p:txBody>
          <a:bodyPr wrap="square" lIns="0" tIns="0" rIns="0" bIns="0" rtlCol="0" anchor="ctr"/>
          <a:lstStyle/>
          <a:p>
            <a:pPr marL="0" indent="0" algn="ctr">
              <a:buNone/>
            </a:pPr>
            <a:r>
              <a:rPr lang="en-US" sz="950" dirty="0">
                <a:solidFill>
                  <a:srgbClr val="FFFFFF"/>
                </a:solidFill>
              </a:rPr>
              <a:t>Reduction in waste collection trips</a:t>
            </a:r>
            <a:endParaRPr lang="en-US" sz="950" dirty="0"/>
          </a:p>
        </p:txBody>
      </p:sp>
      <p:sp>
        <p:nvSpPr>
          <p:cNvPr id="7" name="Shape 5"/>
          <p:cNvSpPr/>
          <p:nvPr/>
        </p:nvSpPr>
        <p:spPr>
          <a:xfrm>
            <a:off x="2450592" y="1005840"/>
            <a:ext cx="1920240" cy="1508760"/>
          </a:xfrm>
          <a:prstGeom prst="rect">
            <a:avLst/>
          </a:prstGeom>
          <a:solidFill>
            <a:srgbClr val="065A82"/>
          </a:solidFill>
          <a:ln/>
          <a:effectLst>
            <a:outerShdw blurRad="101600" dist="38100" dir="8100000" algn="bl" rotWithShape="0">
              <a:srgbClr val="000000">
                <a:alpha val="12000"/>
              </a:srgbClr>
            </a:outerShdw>
          </a:effectLst>
        </p:spPr>
      </p:sp>
      <p:sp>
        <p:nvSpPr>
          <p:cNvPr id="8" name="Text 6"/>
          <p:cNvSpPr/>
          <p:nvPr/>
        </p:nvSpPr>
        <p:spPr>
          <a:xfrm>
            <a:off x="2450592" y="1097280"/>
            <a:ext cx="1920240" cy="731520"/>
          </a:xfrm>
          <a:prstGeom prst="rect">
            <a:avLst/>
          </a:prstGeom>
          <a:noFill/>
          <a:ln/>
        </p:spPr>
        <p:txBody>
          <a:bodyPr wrap="square" lIns="0" tIns="0" rIns="0" bIns="0" rtlCol="0" anchor="ctr"/>
          <a:lstStyle/>
          <a:p>
            <a:pPr marL="0" indent="0" algn="ctr">
              <a:buNone/>
            </a:pPr>
            <a:r>
              <a:rPr lang="en-US" sz="4000" b="1" dirty="0">
                <a:solidFill>
                  <a:srgbClr val="02C39A"/>
                </a:solidFill>
              </a:rPr>
              <a:t>22%</a:t>
            </a:r>
            <a:endParaRPr lang="en-US" sz="4000" dirty="0"/>
          </a:p>
        </p:txBody>
      </p:sp>
      <p:sp>
        <p:nvSpPr>
          <p:cNvPr id="9" name="Text 7"/>
          <p:cNvSpPr/>
          <p:nvPr/>
        </p:nvSpPr>
        <p:spPr>
          <a:xfrm>
            <a:off x="2542032" y="1828800"/>
            <a:ext cx="1737360" cy="640080"/>
          </a:xfrm>
          <a:prstGeom prst="rect">
            <a:avLst/>
          </a:prstGeom>
          <a:noFill/>
          <a:ln/>
        </p:spPr>
        <p:txBody>
          <a:bodyPr wrap="square" lIns="0" tIns="0" rIns="0" bIns="0" rtlCol="0" anchor="ctr"/>
          <a:lstStyle/>
          <a:p>
            <a:pPr marL="0" indent="0" algn="ctr">
              <a:buNone/>
            </a:pPr>
            <a:r>
              <a:rPr lang="en-US" sz="950" dirty="0">
                <a:solidFill>
                  <a:srgbClr val="FFFFFF"/>
                </a:solidFill>
              </a:rPr>
              <a:t>Decrease in peak-hour congestion</a:t>
            </a:r>
            <a:endParaRPr lang="en-US" sz="950" dirty="0"/>
          </a:p>
        </p:txBody>
      </p:sp>
      <p:sp>
        <p:nvSpPr>
          <p:cNvPr id="10" name="Shape 8"/>
          <p:cNvSpPr/>
          <p:nvPr/>
        </p:nvSpPr>
        <p:spPr>
          <a:xfrm>
            <a:off x="4626864" y="1005840"/>
            <a:ext cx="1920240" cy="1508760"/>
          </a:xfrm>
          <a:prstGeom prst="rect">
            <a:avLst/>
          </a:prstGeom>
          <a:solidFill>
            <a:srgbClr val="1C7293"/>
          </a:solidFill>
          <a:ln/>
          <a:effectLst>
            <a:outerShdw blurRad="101600" dist="38100" dir="8100000" algn="bl" rotWithShape="0">
              <a:srgbClr val="000000">
                <a:alpha val="12000"/>
              </a:srgbClr>
            </a:outerShdw>
          </a:effectLst>
        </p:spPr>
      </p:sp>
      <p:sp>
        <p:nvSpPr>
          <p:cNvPr id="11" name="Text 9"/>
          <p:cNvSpPr/>
          <p:nvPr/>
        </p:nvSpPr>
        <p:spPr>
          <a:xfrm>
            <a:off x="4626864" y="1097280"/>
            <a:ext cx="1920240" cy="731520"/>
          </a:xfrm>
          <a:prstGeom prst="rect">
            <a:avLst/>
          </a:prstGeom>
          <a:noFill/>
          <a:ln/>
        </p:spPr>
        <p:txBody>
          <a:bodyPr wrap="square" lIns="0" tIns="0" rIns="0" bIns="0" rtlCol="0" anchor="ctr"/>
          <a:lstStyle/>
          <a:p>
            <a:pPr marL="0" indent="0" algn="ctr">
              <a:buNone/>
            </a:pPr>
            <a:r>
              <a:rPr lang="en-US" sz="4000" b="1" dirty="0">
                <a:solidFill>
                  <a:srgbClr val="02C39A"/>
                </a:solidFill>
              </a:rPr>
              <a:t>18%</a:t>
            </a:r>
            <a:endParaRPr lang="en-US" sz="4000" dirty="0"/>
          </a:p>
        </p:txBody>
      </p:sp>
      <p:sp>
        <p:nvSpPr>
          <p:cNvPr id="12" name="Text 10"/>
          <p:cNvSpPr/>
          <p:nvPr/>
        </p:nvSpPr>
        <p:spPr>
          <a:xfrm>
            <a:off x="4718304" y="1828800"/>
            <a:ext cx="1737360" cy="640080"/>
          </a:xfrm>
          <a:prstGeom prst="rect">
            <a:avLst/>
          </a:prstGeom>
          <a:noFill/>
          <a:ln/>
        </p:spPr>
        <p:txBody>
          <a:bodyPr wrap="square" lIns="0" tIns="0" rIns="0" bIns="0" rtlCol="0" anchor="ctr"/>
          <a:lstStyle/>
          <a:p>
            <a:pPr marL="0" indent="0" algn="ctr">
              <a:buNone/>
            </a:pPr>
            <a:r>
              <a:rPr lang="en-US" sz="950" dirty="0">
                <a:solidFill>
                  <a:srgbClr val="FFFFFF"/>
                </a:solidFill>
              </a:rPr>
              <a:t>Energy savings via smart load balancing</a:t>
            </a:r>
            <a:endParaRPr lang="en-US" sz="950" dirty="0"/>
          </a:p>
        </p:txBody>
      </p:sp>
      <p:sp>
        <p:nvSpPr>
          <p:cNvPr id="13" name="Shape 11"/>
          <p:cNvSpPr/>
          <p:nvPr/>
        </p:nvSpPr>
        <p:spPr>
          <a:xfrm>
            <a:off x="6803136" y="1005840"/>
            <a:ext cx="1920240" cy="1508760"/>
          </a:xfrm>
          <a:prstGeom prst="rect">
            <a:avLst/>
          </a:prstGeom>
          <a:solidFill>
            <a:srgbClr val="028090"/>
          </a:solidFill>
          <a:ln/>
          <a:effectLst>
            <a:outerShdw blurRad="101600" dist="38100" dir="8100000" algn="bl" rotWithShape="0">
              <a:srgbClr val="000000">
                <a:alpha val="12000"/>
              </a:srgbClr>
            </a:outerShdw>
          </a:effectLst>
        </p:spPr>
      </p:sp>
      <p:sp>
        <p:nvSpPr>
          <p:cNvPr id="14" name="Text 12"/>
          <p:cNvSpPr/>
          <p:nvPr/>
        </p:nvSpPr>
        <p:spPr>
          <a:xfrm>
            <a:off x="6803136" y="1097280"/>
            <a:ext cx="1920240" cy="731520"/>
          </a:xfrm>
          <a:prstGeom prst="rect">
            <a:avLst/>
          </a:prstGeom>
          <a:noFill/>
          <a:ln/>
        </p:spPr>
        <p:txBody>
          <a:bodyPr wrap="square" lIns="0" tIns="0" rIns="0" bIns="0" rtlCol="0" anchor="ctr"/>
          <a:lstStyle/>
          <a:p>
            <a:pPr marL="0" indent="0" algn="ctr">
              <a:buNone/>
            </a:pPr>
            <a:r>
              <a:rPr lang="en-US" sz="4000" b="1" dirty="0">
                <a:solidFill>
                  <a:srgbClr val="02C39A"/>
                </a:solidFill>
              </a:rPr>
              <a:t>40%</a:t>
            </a:r>
            <a:endParaRPr lang="en-US" sz="4000" dirty="0"/>
          </a:p>
        </p:txBody>
      </p:sp>
      <p:sp>
        <p:nvSpPr>
          <p:cNvPr id="15" name="Text 13"/>
          <p:cNvSpPr/>
          <p:nvPr/>
        </p:nvSpPr>
        <p:spPr>
          <a:xfrm>
            <a:off x="6894576" y="1828800"/>
            <a:ext cx="1737360" cy="640080"/>
          </a:xfrm>
          <a:prstGeom prst="rect">
            <a:avLst/>
          </a:prstGeom>
          <a:noFill/>
          <a:ln/>
        </p:spPr>
        <p:txBody>
          <a:bodyPr wrap="square" lIns="0" tIns="0" rIns="0" bIns="0" rtlCol="0" anchor="ctr"/>
          <a:lstStyle/>
          <a:p>
            <a:pPr marL="0" indent="0" algn="ctr">
              <a:buNone/>
            </a:pPr>
            <a:r>
              <a:rPr lang="en-US" sz="950" dirty="0">
                <a:solidFill>
                  <a:srgbClr val="FFFFFF"/>
                </a:solidFill>
              </a:rPr>
              <a:t>Faster incident detection &amp; response</a:t>
            </a:r>
            <a:endParaRPr lang="en-US" sz="950" dirty="0"/>
          </a:p>
        </p:txBody>
      </p:sp>
      <p:sp>
        <p:nvSpPr>
          <p:cNvPr id="16" name="Shape 14"/>
          <p:cNvSpPr/>
          <p:nvPr/>
        </p:nvSpPr>
        <p:spPr>
          <a:xfrm>
            <a:off x="274320" y="2651760"/>
            <a:ext cx="2743200" cy="2240280"/>
          </a:xfrm>
          <a:prstGeom prst="rect">
            <a:avLst/>
          </a:prstGeom>
          <a:solidFill>
            <a:srgbClr val="FFFFFF"/>
          </a:solidFill>
          <a:ln/>
          <a:effectLst>
            <a:outerShdw blurRad="101600" dist="38100" dir="8100000" algn="bl" rotWithShape="0">
              <a:srgbClr val="000000">
                <a:alpha val="12000"/>
              </a:srgbClr>
            </a:outerShdw>
          </a:effectLst>
        </p:spPr>
      </p:sp>
      <p:sp>
        <p:nvSpPr>
          <p:cNvPr id="17" name="Shape 15"/>
          <p:cNvSpPr/>
          <p:nvPr/>
        </p:nvSpPr>
        <p:spPr>
          <a:xfrm>
            <a:off x="274320" y="2651760"/>
            <a:ext cx="2743200" cy="365760"/>
          </a:xfrm>
          <a:prstGeom prst="rect">
            <a:avLst/>
          </a:prstGeom>
          <a:solidFill>
            <a:srgbClr val="0A2342"/>
          </a:solidFill>
          <a:ln/>
        </p:spPr>
      </p:sp>
      <p:sp>
        <p:nvSpPr>
          <p:cNvPr id="18" name="Text 16"/>
          <p:cNvSpPr/>
          <p:nvPr/>
        </p:nvSpPr>
        <p:spPr>
          <a:xfrm>
            <a:off x="274320" y="2651760"/>
            <a:ext cx="2743200" cy="365760"/>
          </a:xfrm>
          <a:prstGeom prst="rect">
            <a:avLst/>
          </a:prstGeom>
          <a:noFill/>
          <a:ln/>
        </p:spPr>
        <p:txBody>
          <a:bodyPr wrap="square" lIns="0" tIns="0" rIns="0" bIns="0" rtlCol="0" anchor="ctr"/>
          <a:lstStyle/>
          <a:p>
            <a:pPr marL="0" indent="0" algn="ctr">
              <a:buNone/>
            </a:pPr>
            <a:r>
              <a:rPr lang="en-US" sz="1200" b="1" dirty="0">
                <a:solidFill>
                  <a:srgbClr val="FFFFFF"/>
                </a:solidFill>
              </a:rPr>
              <a:t>♻️ Waste</a:t>
            </a:r>
            <a:endParaRPr lang="en-US" sz="1200" dirty="0"/>
          </a:p>
        </p:txBody>
      </p:sp>
      <p:sp>
        <p:nvSpPr>
          <p:cNvPr id="19" name="Text 17"/>
          <p:cNvSpPr/>
          <p:nvPr/>
        </p:nvSpPr>
        <p:spPr>
          <a:xfrm>
            <a:off x="365760" y="3063240"/>
            <a:ext cx="2560320" cy="1783080"/>
          </a:xfrm>
          <a:prstGeom prst="rect">
            <a:avLst/>
          </a:prstGeom>
          <a:noFill/>
          <a:ln/>
        </p:spPr>
        <p:txBody>
          <a:bodyPr wrap="square" lIns="0" tIns="0" rIns="0" bIns="0" rtlCol="0" anchor="ctr"/>
          <a:lstStyle/>
          <a:p>
            <a:pPr marL="342900" indent="-342900">
              <a:buSzPct val="100000"/>
              <a:buChar char="•"/>
            </a:pPr>
            <a:r>
              <a:rPr lang="en-US" sz="950" dirty="0">
                <a:solidFill>
                  <a:srgbClr val="1E2D3D"/>
                </a:solidFill>
              </a:rPr>
              <a:t>Predictive bin overflow alerts (92% accuracy)</a:t>
            </a:r>
            <a:endParaRPr lang="en-US" sz="950" dirty="0"/>
          </a:p>
          <a:p>
            <a:pPr marL="342900" indent="-342900">
              <a:buSzPct val="100000"/>
              <a:buChar char="•"/>
            </a:pPr>
            <a:r>
              <a:rPr lang="en-US" sz="950" dirty="0">
                <a:solidFill>
                  <a:srgbClr val="1E2D3D"/>
                </a:solidFill>
              </a:rPr>
              <a:t>Route optimization saves 28% fuel costs</a:t>
            </a:r>
            <a:endParaRPr lang="en-US" sz="950" dirty="0"/>
          </a:p>
          <a:p>
            <a:pPr marL="342900" indent="-342900">
              <a:buSzPct val="100000"/>
              <a:buChar char="•"/>
            </a:pPr>
            <a:r>
              <a:rPr lang="en-US" sz="950" dirty="0">
                <a:solidFill>
                  <a:srgbClr val="1E2D3D"/>
                </a:solidFill>
              </a:rPr>
              <a:t>Illegal dumping detected via camera analytics</a:t>
            </a:r>
            <a:endParaRPr lang="en-US" sz="950" dirty="0"/>
          </a:p>
        </p:txBody>
      </p:sp>
      <p:sp>
        <p:nvSpPr>
          <p:cNvPr id="20" name="Shape 18"/>
          <p:cNvSpPr/>
          <p:nvPr/>
        </p:nvSpPr>
        <p:spPr>
          <a:xfrm>
            <a:off x="3227832" y="2651760"/>
            <a:ext cx="2743200" cy="2240280"/>
          </a:xfrm>
          <a:prstGeom prst="rect">
            <a:avLst/>
          </a:prstGeom>
          <a:solidFill>
            <a:srgbClr val="FFFFFF"/>
          </a:solidFill>
          <a:ln/>
          <a:effectLst>
            <a:outerShdw blurRad="101600" dist="38100" dir="8100000" algn="bl" rotWithShape="0">
              <a:srgbClr val="000000">
                <a:alpha val="12000"/>
              </a:srgbClr>
            </a:outerShdw>
          </a:effectLst>
        </p:spPr>
      </p:sp>
      <p:sp>
        <p:nvSpPr>
          <p:cNvPr id="21" name="Shape 19"/>
          <p:cNvSpPr/>
          <p:nvPr/>
        </p:nvSpPr>
        <p:spPr>
          <a:xfrm>
            <a:off x="3227832" y="2651760"/>
            <a:ext cx="2743200" cy="365760"/>
          </a:xfrm>
          <a:prstGeom prst="rect">
            <a:avLst/>
          </a:prstGeom>
          <a:solidFill>
            <a:srgbClr val="0A2342"/>
          </a:solidFill>
          <a:ln/>
        </p:spPr>
      </p:sp>
      <p:sp>
        <p:nvSpPr>
          <p:cNvPr id="22" name="Text 20"/>
          <p:cNvSpPr/>
          <p:nvPr/>
        </p:nvSpPr>
        <p:spPr>
          <a:xfrm>
            <a:off x="3227832" y="2651760"/>
            <a:ext cx="2743200" cy="365760"/>
          </a:xfrm>
          <a:prstGeom prst="rect">
            <a:avLst/>
          </a:prstGeom>
          <a:noFill/>
          <a:ln/>
        </p:spPr>
        <p:txBody>
          <a:bodyPr wrap="square" lIns="0" tIns="0" rIns="0" bIns="0" rtlCol="0" anchor="ctr"/>
          <a:lstStyle/>
          <a:p>
            <a:pPr marL="0" indent="0" algn="ctr">
              <a:buNone/>
            </a:pPr>
            <a:r>
              <a:rPr lang="en-US" sz="1200" b="1" dirty="0">
                <a:solidFill>
                  <a:srgbClr val="FFFFFF"/>
                </a:solidFill>
              </a:rPr>
              <a:t>🚦 Traffic</a:t>
            </a:r>
            <a:endParaRPr lang="en-US" sz="1200" dirty="0"/>
          </a:p>
        </p:txBody>
      </p:sp>
      <p:sp>
        <p:nvSpPr>
          <p:cNvPr id="23" name="Text 21"/>
          <p:cNvSpPr/>
          <p:nvPr/>
        </p:nvSpPr>
        <p:spPr>
          <a:xfrm>
            <a:off x="3319272" y="3063240"/>
            <a:ext cx="2560320" cy="1783080"/>
          </a:xfrm>
          <a:prstGeom prst="rect">
            <a:avLst/>
          </a:prstGeom>
          <a:noFill/>
          <a:ln/>
        </p:spPr>
        <p:txBody>
          <a:bodyPr wrap="square" lIns="0" tIns="0" rIns="0" bIns="0" rtlCol="0" anchor="ctr"/>
          <a:lstStyle/>
          <a:p>
            <a:pPr marL="342900" indent="-342900">
              <a:buSzPct val="100000"/>
              <a:buChar char="•"/>
            </a:pPr>
            <a:r>
              <a:rPr lang="en-US" sz="950" dirty="0">
                <a:solidFill>
                  <a:srgbClr val="1E2D3D"/>
                </a:solidFill>
              </a:rPr>
              <a:t>LSTM model predicts congestion 30 min ahead</a:t>
            </a:r>
            <a:endParaRPr lang="en-US" sz="950" dirty="0"/>
          </a:p>
          <a:p>
            <a:pPr marL="342900" indent="-342900">
              <a:buSzPct val="100000"/>
              <a:buChar char="•"/>
            </a:pPr>
            <a:r>
              <a:rPr lang="en-US" sz="950" dirty="0">
                <a:solidFill>
                  <a:srgbClr val="1E2D3D"/>
                </a:solidFill>
              </a:rPr>
              <a:t>Adaptive signals cut average wait time by 19%</a:t>
            </a:r>
            <a:endParaRPr lang="en-US" sz="950" dirty="0"/>
          </a:p>
          <a:p>
            <a:pPr marL="342900" indent="-342900">
              <a:buSzPct val="100000"/>
              <a:buChar char="•"/>
            </a:pPr>
            <a:r>
              <a:rPr lang="en-US" sz="950" dirty="0">
                <a:solidFill>
                  <a:srgbClr val="1E2D3D"/>
                </a:solidFill>
              </a:rPr>
              <a:t>Emergency vehicle priority corridors automated</a:t>
            </a:r>
            <a:endParaRPr lang="en-US" sz="950" dirty="0"/>
          </a:p>
        </p:txBody>
      </p:sp>
      <p:sp>
        <p:nvSpPr>
          <p:cNvPr id="24" name="Shape 22"/>
          <p:cNvSpPr/>
          <p:nvPr/>
        </p:nvSpPr>
        <p:spPr>
          <a:xfrm>
            <a:off x="6181344" y="2651760"/>
            <a:ext cx="2743200" cy="2240280"/>
          </a:xfrm>
          <a:prstGeom prst="rect">
            <a:avLst/>
          </a:prstGeom>
          <a:solidFill>
            <a:srgbClr val="FFFFFF"/>
          </a:solidFill>
          <a:ln/>
          <a:effectLst>
            <a:outerShdw blurRad="101600" dist="38100" dir="8100000" algn="bl" rotWithShape="0">
              <a:srgbClr val="000000">
                <a:alpha val="12000"/>
              </a:srgbClr>
            </a:outerShdw>
          </a:effectLst>
        </p:spPr>
      </p:sp>
      <p:sp>
        <p:nvSpPr>
          <p:cNvPr id="25" name="Shape 23"/>
          <p:cNvSpPr/>
          <p:nvPr/>
        </p:nvSpPr>
        <p:spPr>
          <a:xfrm>
            <a:off x="6181344" y="2651760"/>
            <a:ext cx="2743200" cy="365760"/>
          </a:xfrm>
          <a:prstGeom prst="rect">
            <a:avLst/>
          </a:prstGeom>
          <a:solidFill>
            <a:srgbClr val="0A2342"/>
          </a:solidFill>
          <a:ln/>
        </p:spPr>
      </p:sp>
      <p:sp>
        <p:nvSpPr>
          <p:cNvPr id="26" name="Text 24"/>
          <p:cNvSpPr/>
          <p:nvPr/>
        </p:nvSpPr>
        <p:spPr>
          <a:xfrm>
            <a:off x="6181344" y="2651760"/>
            <a:ext cx="2743200" cy="365760"/>
          </a:xfrm>
          <a:prstGeom prst="rect">
            <a:avLst/>
          </a:prstGeom>
          <a:noFill/>
          <a:ln/>
        </p:spPr>
        <p:txBody>
          <a:bodyPr wrap="square" lIns="0" tIns="0" rIns="0" bIns="0" rtlCol="0" anchor="ctr"/>
          <a:lstStyle/>
          <a:p>
            <a:pPr marL="0" indent="0" algn="ctr">
              <a:buNone/>
            </a:pPr>
            <a:r>
              <a:rPr lang="en-US" sz="1200" b="1" dirty="0">
                <a:solidFill>
                  <a:srgbClr val="FFFFFF"/>
                </a:solidFill>
              </a:rPr>
              <a:t>⚡ Energy</a:t>
            </a:r>
            <a:endParaRPr lang="en-US" sz="1200" dirty="0"/>
          </a:p>
        </p:txBody>
      </p:sp>
      <p:sp>
        <p:nvSpPr>
          <p:cNvPr id="27" name="Text 25"/>
          <p:cNvSpPr/>
          <p:nvPr/>
        </p:nvSpPr>
        <p:spPr>
          <a:xfrm>
            <a:off x="6272784" y="3063240"/>
            <a:ext cx="2560320" cy="1783080"/>
          </a:xfrm>
          <a:prstGeom prst="rect">
            <a:avLst/>
          </a:prstGeom>
          <a:noFill/>
          <a:ln/>
        </p:spPr>
        <p:txBody>
          <a:bodyPr wrap="square" lIns="0" tIns="0" rIns="0" bIns="0" rtlCol="0" anchor="ctr"/>
          <a:lstStyle/>
          <a:p>
            <a:pPr marL="342900" indent="-342900">
              <a:buSzPct val="100000"/>
              <a:buChar char="•"/>
            </a:pPr>
            <a:r>
              <a:rPr lang="en-US" sz="950" dirty="0">
                <a:solidFill>
                  <a:srgbClr val="1E2D3D"/>
                </a:solidFill>
              </a:rPr>
              <a:t>Demand forecasting accuracy: 94% (MAPE &lt; 6%)</a:t>
            </a:r>
            <a:endParaRPr lang="en-US" sz="950" dirty="0"/>
          </a:p>
          <a:p>
            <a:pPr marL="342900" indent="-342900">
              <a:buSzPct val="100000"/>
              <a:buChar char="•"/>
            </a:pPr>
            <a:r>
              <a:rPr lang="en-US" sz="950" dirty="0">
                <a:solidFill>
                  <a:srgbClr val="1E2D3D"/>
                </a:solidFill>
              </a:rPr>
              <a:t>Peak shaving reduces grid stress by 15%</a:t>
            </a:r>
            <a:endParaRPr lang="en-US" sz="950" dirty="0"/>
          </a:p>
          <a:p>
            <a:pPr marL="342900" indent="-342900">
              <a:buSzPct val="100000"/>
              <a:buChar char="•"/>
            </a:pPr>
            <a:r>
              <a:rPr lang="en-US" sz="950" dirty="0">
                <a:solidFill>
                  <a:srgbClr val="1E2D3D"/>
                </a:solidFill>
              </a:rPr>
              <a:t>Solar surplus routing to storage optimized</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2342"/>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2C39A"/>
          </a:solidFill>
          <a:ln/>
        </p:spPr>
      </p:sp>
      <p:sp>
        <p:nvSpPr>
          <p:cNvPr id="3" name="Text 1"/>
          <p:cNvSpPr/>
          <p:nvPr/>
        </p:nvSpPr>
        <p:spPr>
          <a:xfrm>
            <a:off x="365760" y="201168"/>
            <a:ext cx="8229600" cy="548640"/>
          </a:xfrm>
          <a:prstGeom prst="rect">
            <a:avLst/>
          </a:prstGeom>
          <a:noFill/>
          <a:ln/>
        </p:spPr>
        <p:txBody>
          <a:bodyPr wrap="square" lIns="0" tIns="0" rIns="0" bIns="0" rtlCol="0" anchor="ctr"/>
          <a:lstStyle/>
          <a:p>
            <a:pPr marL="0" indent="0">
              <a:buNone/>
            </a:pPr>
            <a:r>
              <a:rPr lang="en-US" sz="2000" b="1" dirty="0">
                <a:solidFill>
                  <a:srgbClr val="FFFFFF"/>
                </a:solidFill>
              </a:rPr>
              <a:t>07  |  CONCLUSION &amp; FUTURE SCOPE</a:t>
            </a:r>
            <a:endParaRPr lang="en-US" sz="2000" dirty="0"/>
          </a:p>
        </p:txBody>
      </p:sp>
      <p:sp>
        <p:nvSpPr>
          <p:cNvPr id="4" name="Text 2"/>
          <p:cNvSpPr/>
          <p:nvPr/>
        </p:nvSpPr>
        <p:spPr>
          <a:xfrm>
            <a:off x="320040" y="914400"/>
            <a:ext cx="4572000" cy="365760"/>
          </a:xfrm>
          <a:prstGeom prst="rect">
            <a:avLst/>
          </a:prstGeom>
          <a:noFill/>
          <a:ln/>
        </p:spPr>
        <p:txBody>
          <a:bodyPr wrap="square" lIns="0" tIns="0" rIns="0" bIns="0" rtlCol="0" anchor="ctr"/>
          <a:lstStyle/>
          <a:p>
            <a:pPr marL="0" indent="0">
              <a:buNone/>
            </a:pPr>
            <a:r>
              <a:rPr lang="en-US" sz="1400" b="1" dirty="0">
                <a:solidFill>
                  <a:srgbClr val="02C39A"/>
                </a:solidFill>
              </a:rPr>
              <a:t>Key Takeaways</a:t>
            </a:r>
            <a:endParaRPr lang="en-US" sz="1400" dirty="0"/>
          </a:p>
        </p:txBody>
      </p:sp>
      <p:sp>
        <p:nvSpPr>
          <p:cNvPr id="5" name="Shape 3"/>
          <p:cNvSpPr/>
          <p:nvPr/>
        </p:nvSpPr>
        <p:spPr>
          <a:xfrm>
            <a:off x="320040" y="1353312"/>
            <a:ext cx="274320" cy="274320"/>
          </a:xfrm>
          <a:prstGeom prst="rect">
            <a:avLst/>
          </a:prstGeom>
          <a:solidFill>
            <a:srgbClr val="02C39A"/>
          </a:solidFill>
          <a:ln/>
        </p:spPr>
      </p:sp>
      <p:sp>
        <p:nvSpPr>
          <p:cNvPr id="6" name="Text 4"/>
          <p:cNvSpPr/>
          <p:nvPr/>
        </p:nvSpPr>
        <p:spPr>
          <a:xfrm>
            <a:off x="320040" y="1353312"/>
            <a:ext cx="274320" cy="274320"/>
          </a:xfrm>
          <a:prstGeom prst="rect">
            <a:avLst/>
          </a:prstGeom>
          <a:noFill/>
          <a:ln/>
        </p:spPr>
        <p:txBody>
          <a:bodyPr wrap="square" lIns="0" tIns="0" rIns="0" bIns="0" rtlCol="0" anchor="ctr"/>
          <a:lstStyle/>
          <a:p>
            <a:pPr marL="0" indent="0" algn="ctr">
              <a:buNone/>
            </a:pPr>
            <a:r>
              <a:rPr lang="en-US" sz="900" b="1" dirty="0">
                <a:solidFill>
                  <a:srgbClr val="0A2342"/>
                </a:solidFill>
              </a:rPr>
              <a:t>1</a:t>
            </a:r>
            <a:endParaRPr lang="en-US" sz="900" dirty="0"/>
          </a:p>
        </p:txBody>
      </p:sp>
      <p:sp>
        <p:nvSpPr>
          <p:cNvPr id="7" name="Text 5"/>
          <p:cNvSpPr/>
          <p:nvPr/>
        </p:nvSpPr>
        <p:spPr>
          <a:xfrm>
            <a:off x="685800" y="1325880"/>
            <a:ext cx="4114800" cy="658368"/>
          </a:xfrm>
          <a:prstGeom prst="rect">
            <a:avLst/>
          </a:prstGeom>
          <a:noFill/>
          <a:ln/>
        </p:spPr>
        <p:txBody>
          <a:bodyPr wrap="square" lIns="0" tIns="0" rIns="0" bIns="0" rtlCol="0" anchor="ctr"/>
          <a:lstStyle/>
          <a:p>
            <a:pPr marL="0" indent="0">
              <a:buNone/>
            </a:pPr>
            <a:r>
              <a:rPr lang="en-US" sz="1050" dirty="0">
                <a:solidFill>
                  <a:srgbClr val="E8F4F8"/>
                </a:solidFill>
              </a:rPr>
              <a:t>Big Data analytics transforms raw urban data into actionable intelligence, enabling efficient, sustainable cities.</a:t>
            </a:r>
            <a:endParaRPr lang="en-US" sz="1050" dirty="0"/>
          </a:p>
        </p:txBody>
      </p:sp>
      <p:sp>
        <p:nvSpPr>
          <p:cNvPr id="8" name="Shape 6"/>
          <p:cNvSpPr/>
          <p:nvPr/>
        </p:nvSpPr>
        <p:spPr>
          <a:xfrm>
            <a:off x="320040" y="2103120"/>
            <a:ext cx="274320" cy="274320"/>
          </a:xfrm>
          <a:prstGeom prst="rect">
            <a:avLst/>
          </a:prstGeom>
          <a:solidFill>
            <a:srgbClr val="02C39A"/>
          </a:solidFill>
          <a:ln/>
        </p:spPr>
      </p:sp>
      <p:sp>
        <p:nvSpPr>
          <p:cNvPr id="9" name="Text 7"/>
          <p:cNvSpPr/>
          <p:nvPr/>
        </p:nvSpPr>
        <p:spPr>
          <a:xfrm>
            <a:off x="320040" y="2103120"/>
            <a:ext cx="274320" cy="274320"/>
          </a:xfrm>
          <a:prstGeom prst="rect">
            <a:avLst/>
          </a:prstGeom>
          <a:noFill/>
          <a:ln/>
        </p:spPr>
        <p:txBody>
          <a:bodyPr wrap="square" lIns="0" tIns="0" rIns="0" bIns="0" rtlCol="0" anchor="ctr"/>
          <a:lstStyle/>
          <a:p>
            <a:pPr marL="0" indent="0" algn="ctr">
              <a:buNone/>
            </a:pPr>
            <a:r>
              <a:rPr lang="en-US" sz="900" b="1" dirty="0">
                <a:solidFill>
                  <a:srgbClr val="0A2342"/>
                </a:solidFill>
              </a:rPr>
              <a:t>2</a:t>
            </a:r>
            <a:endParaRPr lang="en-US" sz="900" dirty="0"/>
          </a:p>
        </p:txBody>
      </p:sp>
      <p:sp>
        <p:nvSpPr>
          <p:cNvPr id="10" name="Text 8"/>
          <p:cNvSpPr/>
          <p:nvPr/>
        </p:nvSpPr>
        <p:spPr>
          <a:xfrm>
            <a:off x="685800" y="2075688"/>
            <a:ext cx="4114800" cy="658368"/>
          </a:xfrm>
          <a:prstGeom prst="rect">
            <a:avLst/>
          </a:prstGeom>
          <a:noFill/>
          <a:ln/>
        </p:spPr>
        <p:txBody>
          <a:bodyPr wrap="square" lIns="0" tIns="0" rIns="0" bIns="0" rtlCol="0" anchor="ctr"/>
          <a:lstStyle/>
          <a:p>
            <a:pPr marL="0" indent="0">
              <a:buNone/>
            </a:pPr>
            <a:r>
              <a:rPr lang="en-US" sz="1050" dirty="0">
                <a:solidFill>
                  <a:srgbClr val="E8F4F8"/>
                </a:solidFill>
              </a:rPr>
              <a:t>The integrated Hadoop-Spark-ML pipeline handles real-time and batch data from diverse domains.</a:t>
            </a:r>
            <a:endParaRPr lang="en-US" sz="1050" dirty="0"/>
          </a:p>
        </p:txBody>
      </p:sp>
      <p:sp>
        <p:nvSpPr>
          <p:cNvPr id="11" name="Shape 9"/>
          <p:cNvSpPr/>
          <p:nvPr/>
        </p:nvSpPr>
        <p:spPr>
          <a:xfrm>
            <a:off x="320040" y="2852928"/>
            <a:ext cx="274320" cy="274320"/>
          </a:xfrm>
          <a:prstGeom prst="rect">
            <a:avLst/>
          </a:prstGeom>
          <a:solidFill>
            <a:srgbClr val="02C39A"/>
          </a:solidFill>
          <a:ln/>
        </p:spPr>
      </p:sp>
      <p:sp>
        <p:nvSpPr>
          <p:cNvPr id="12" name="Text 10"/>
          <p:cNvSpPr/>
          <p:nvPr/>
        </p:nvSpPr>
        <p:spPr>
          <a:xfrm>
            <a:off x="320040" y="2852928"/>
            <a:ext cx="274320" cy="274320"/>
          </a:xfrm>
          <a:prstGeom prst="rect">
            <a:avLst/>
          </a:prstGeom>
          <a:noFill/>
          <a:ln/>
        </p:spPr>
        <p:txBody>
          <a:bodyPr wrap="square" lIns="0" tIns="0" rIns="0" bIns="0" rtlCol="0" anchor="ctr"/>
          <a:lstStyle/>
          <a:p>
            <a:pPr marL="0" indent="0" algn="ctr">
              <a:buNone/>
            </a:pPr>
            <a:r>
              <a:rPr lang="en-US" sz="900" b="1" dirty="0">
                <a:solidFill>
                  <a:srgbClr val="0A2342"/>
                </a:solidFill>
              </a:rPr>
              <a:t>3</a:t>
            </a:r>
            <a:endParaRPr lang="en-US" sz="900" dirty="0"/>
          </a:p>
        </p:txBody>
      </p:sp>
      <p:sp>
        <p:nvSpPr>
          <p:cNvPr id="13" name="Text 11"/>
          <p:cNvSpPr/>
          <p:nvPr/>
        </p:nvSpPr>
        <p:spPr>
          <a:xfrm>
            <a:off x="685800" y="2825496"/>
            <a:ext cx="4114800" cy="658368"/>
          </a:xfrm>
          <a:prstGeom prst="rect">
            <a:avLst/>
          </a:prstGeom>
          <a:noFill/>
          <a:ln/>
        </p:spPr>
        <p:txBody>
          <a:bodyPr wrap="square" lIns="0" tIns="0" rIns="0" bIns="0" rtlCol="0" anchor="ctr"/>
          <a:lstStyle/>
          <a:p>
            <a:pPr marL="0" indent="0">
              <a:buNone/>
            </a:pPr>
            <a:r>
              <a:rPr lang="en-US" sz="1050" dirty="0">
                <a:solidFill>
                  <a:srgbClr val="E8F4F8"/>
                </a:solidFill>
              </a:rPr>
              <a:t>Waste, traffic, and energy optimisation together deliver measurable cost savings and citizen satisfaction.</a:t>
            </a:r>
            <a:endParaRPr lang="en-US" sz="1050" dirty="0"/>
          </a:p>
        </p:txBody>
      </p:sp>
      <p:sp>
        <p:nvSpPr>
          <p:cNvPr id="14" name="Shape 12"/>
          <p:cNvSpPr/>
          <p:nvPr/>
        </p:nvSpPr>
        <p:spPr>
          <a:xfrm>
            <a:off x="320040" y="3602736"/>
            <a:ext cx="274320" cy="274320"/>
          </a:xfrm>
          <a:prstGeom prst="rect">
            <a:avLst/>
          </a:prstGeom>
          <a:solidFill>
            <a:srgbClr val="02C39A"/>
          </a:solidFill>
          <a:ln/>
        </p:spPr>
      </p:sp>
      <p:sp>
        <p:nvSpPr>
          <p:cNvPr id="15" name="Text 13"/>
          <p:cNvSpPr/>
          <p:nvPr/>
        </p:nvSpPr>
        <p:spPr>
          <a:xfrm>
            <a:off x="320040" y="3602736"/>
            <a:ext cx="274320" cy="274320"/>
          </a:xfrm>
          <a:prstGeom prst="rect">
            <a:avLst/>
          </a:prstGeom>
          <a:noFill/>
          <a:ln/>
        </p:spPr>
        <p:txBody>
          <a:bodyPr wrap="square" lIns="0" tIns="0" rIns="0" bIns="0" rtlCol="0" anchor="ctr"/>
          <a:lstStyle/>
          <a:p>
            <a:pPr marL="0" indent="0" algn="ctr">
              <a:buNone/>
            </a:pPr>
            <a:r>
              <a:rPr lang="en-US" sz="900" b="1" dirty="0">
                <a:solidFill>
                  <a:srgbClr val="0A2342"/>
                </a:solidFill>
              </a:rPr>
              <a:t>4</a:t>
            </a:r>
            <a:endParaRPr lang="en-US" sz="900" dirty="0"/>
          </a:p>
        </p:txBody>
      </p:sp>
      <p:sp>
        <p:nvSpPr>
          <p:cNvPr id="16" name="Text 14"/>
          <p:cNvSpPr/>
          <p:nvPr/>
        </p:nvSpPr>
        <p:spPr>
          <a:xfrm>
            <a:off x="685800" y="3575304"/>
            <a:ext cx="4114800" cy="658368"/>
          </a:xfrm>
          <a:prstGeom prst="rect">
            <a:avLst/>
          </a:prstGeom>
          <a:noFill/>
          <a:ln/>
        </p:spPr>
        <p:txBody>
          <a:bodyPr wrap="square" lIns="0" tIns="0" rIns="0" bIns="0" rtlCol="0" anchor="ctr"/>
          <a:lstStyle/>
          <a:p>
            <a:pPr marL="0" indent="0">
              <a:buNone/>
            </a:pPr>
            <a:r>
              <a:rPr lang="en-US" sz="1050" dirty="0">
                <a:solidFill>
                  <a:srgbClr val="E8F4F8"/>
                </a:solidFill>
              </a:rPr>
              <a:t>Data-driven governance enables proactive decision-making rather than reactive crisis management.</a:t>
            </a:r>
            <a:endParaRPr lang="en-US" sz="1050" dirty="0"/>
          </a:p>
        </p:txBody>
      </p:sp>
      <p:sp>
        <p:nvSpPr>
          <p:cNvPr id="17" name="Shape 15"/>
          <p:cNvSpPr/>
          <p:nvPr/>
        </p:nvSpPr>
        <p:spPr>
          <a:xfrm>
            <a:off x="5029200" y="914400"/>
            <a:ext cx="3749040" cy="3840480"/>
          </a:xfrm>
          <a:prstGeom prst="rect">
            <a:avLst/>
          </a:prstGeom>
          <a:solidFill>
            <a:srgbClr val="065A82"/>
          </a:solidFill>
          <a:ln/>
          <a:effectLst>
            <a:outerShdw blurRad="101600" dist="38100" dir="8100000" algn="bl" rotWithShape="0">
              <a:srgbClr val="000000">
                <a:alpha val="12000"/>
              </a:srgbClr>
            </a:outerShdw>
          </a:effectLst>
        </p:spPr>
      </p:sp>
      <p:sp>
        <p:nvSpPr>
          <p:cNvPr id="18" name="Text 16"/>
          <p:cNvSpPr/>
          <p:nvPr/>
        </p:nvSpPr>
        <p:spPr>
          <a:xfrm>
            <a:off x="5029200" y="914400"/>
            <a:ext cx="3749040" cy="411480"/>
          </a:xfrm>
          <a:prstGeom prst="rect">
            <a:avLst/>
          </a:prstGeom>
          <a:noFill/>
          <a:ln/>
        </p:spPr>
        <p:txBody>
          <a:bodyPr wrap="square" lIns="0" tIns="0" rIns="0" bIns="0" rtlCol="0" anchor="ctr"/>
          <a:lstStyle/>
          <a:p>
            <a:pPr marL="0" indent="0" algn="ctr">
              <a:buNone/>
            </a:pPr>
            <a:r>
              <a:rPr lang="en-US" sz="1300" b="1" dirty="0">
                <a:solidFill>
                  <a:srgbClr val="02C39A"/>
                </a:solidFill>
              </a:rPr>
              <a:t>FUTURE SCOPE</a:t>
            </a:r>
            <a:endParaRPr lang="en-US" sz="1300" dirty="0"/>
          </a:p>
        </p:txBody>
      </p:sp>
      <p:sp>
        <p:nvSpPr>
          <p:cNvPr id="19" name="Text 17"/>
          <p:cNvSpPr/>
          <p:nvPr/>
        </p:nvSpPr>
        <p:spPr>
          <a:xfrm>
            <a:off x="5120640" y="1389888"/>
            <a:ext cx="3566160" cy="3200400"/>
          </a:xfrm>
          <a:prstGeom prst="rect">
            <a:avLst/>
          </a:prstGeom>
          <a:noFill/>
          <a:ln/>
        </p:spPr>
        <p:txBody>
          <a:bodyPr wrap="square" lIns="0" tIns="0" rIns="0" bIns="0" rtlCol="0" anchor="t"/>
          <a:lstStyle/>
          <a:p>
            <a:pPr marL="0" indent="0">
              <a:spcAft>
                <a:spcPts val="600"/>
              </a:spcAft>
              <a:buNone/>
            </a:pPr>
            <a:r>
              <a:rPr lang="en-US" sz="1100" dirty="0">
                <a:solidFill>
                  <a:srgbClr val="FFFFFF"/>
                </a:solidFill>
              </a:rPr>
              <a:t>🤖  AI-powered autonomous city management</a:t>
            </a:r>
            <a:endParaRPr lang="en-US" sz="1100" dirty="0"/>
          </a:p>
          <a:p>
            <a:pPr marL="0" indent="0">
              <a:spcAft>
                <a:spcPts val="600"/>
              </a:spcAft>
              <a:buNone/>
            </a:pPr>
            <a:r>
              <a:rPr lang="en-US" sz="1100" dirty="0">
                <a:solidFill>
                  <a:srgbClr val="FFFFFF"/>
                </a:solidFill>
              </a:rPr>
              <a:t>🌐  Digital Twin of entire city infrastructure</a:t>
            </a:r>
            <a:endParaRPr lang="en-US" sz="1100" dirty="0"/>
          </a:p>
          <a:p>
            <a:pPr marL="0" indent="0">
              <a:spcAft>
                <a:spcPts val="600"/>
              </a:spcAft>
              <a:buNone/>
            </a:pPr>
            <a:r>
              <a:rPr lang="en-US" sz="1100" dirty="0">
                <a:solidFill>
                  <a:srgbClr val="FFFFFF"/>
                </a:solidFill>
              </a:rPr>
              <a:t>📱  Citizen mobile app for real-time participation</a:t>
            </a:r>
            <a:endParaRPr lang="en-US" sz="1100" dirty="0"/>
          </a:p>
          <a:p>
            <a:pPr marL="0" indent="0">
              <a:spcAft>
                <a:spcPts val="600"/>
              </a:spcAft>
              <a:buNone/>
            </a:pPr>
            <a:r>
              <a:rPr lang="en-US" sz="1100" dirty="0">
                <a:solidFill>
                  <a:srgbClr val="FFFFFF"/>
                </a:solidFill>
              </a:rPr>
              <a:t>🔗  Blockchain for data integrity &amp; transparency</a:t>
            </a:r>
            <a:endParaRPr lang="en-US" sz="1100" dirty="0"/>
          </a:p>
          <a:p>
            <a:pPr marL="0" indent="0">
              <a:spcAft>
                <a:spcPts val="600"/>
              </a:spcAft>
              <a:buNone/>
            </a:pPr>
            <a:r>
              <a:rPr lang="en-US" sz="1100" dirty="0">
                <a:solidFill>
                  <a:srgbClr val="FFFFFF"/>
                </a:solidFill>
              </a:rPr>
              <a:t>🌿  Carbon footprint tracking integrated</a:t>
            </a:r>
            <a:endParaRPr lang="en-US" sz="1100" dirty="0"/>
          </a:p>
          <a:p>
            <a:pPr marL="0" indent="0">
              <a:spcAft>
                <a:spcPts val="600"/>
              </a:spcAft>
              <a:buNone/>
            </a:pPr>
            <a:r>
              <a:rPr lang="en-US" sz="1100" dirty="0">
                <a:solidFill>
                  <a:srgbClr val="FFFFFF"/>
                </a:solidFill>
              </a:rPr>
              <a:t>☁️  Federated learning across city nodes</a:t>
            </a:r>
            <a:endParaRPr lang="en-US" sz="1100" dirty="0"/>
          </a:p>
        </p:txBody>
      </p:sp>
      <p:sp>
        <p:nvSpPr>
          <p:cNvPr id="20" name="Shape 18"/>
          <p:cNvSpPr/>
          <p:nvPr/>
        </p:nvSpPr>
        <p:spPr>
          <a:xfrm>
            <a:off x="0" y="4727448"/>
            <a:ext cx="9144000" cy="416052"/>
          </a:xfrm>
          <a:prstGeom prst="rect">
            <a:avLst/>
          </a:prstGeom>
          <a:solidFill>
            <a:srgbClr val="1C7293"/>
          </a:solidFill>
          <a:ln/>
        </p:spPr>
      </p:sp>
      <p:sp>
        <p:nvSpPr>
          <p:cNvPr id="21" name="Text 19"/>
          <p:cNvSpPr/>
          <p:nvPr/>
        </p:nvSpPr>
        <p:spPr>
          <a:xfrm>
            <a:off x="274320" y="4727448"/>
            <a:ext cx="8595360" cy="416052"/>
          </a:xfrm>
          <a:prstGeom prst="rect">
            <a:avLst/>
          </a:prstGeom>
          <a:noFill/>
          <a:ln/>
        </p:spPr>
        <p:txBody>
          <a:bodyPr wrap="square" lIns="0" tIns="0" rIns="0" bIns="0" rtlCol="0" anchor="ctr"/>
          <a:lstStyle/>
          <a:p>
            <a:pPr marL="0" indent="0" algn="ctr">
              <a:buNone/>
            </a:pPr>
            <a:r>
              <a:rPr lang="en-US" sz="1100" dirty="0">
                <a:solidFill>
                  <a:srgbClr val="FFFFFF"/>
                </a:solidFill>
              </a:rPr>
              <a:t>Group 19 — Roll Nos: 55, 56, 57  |  BDA Case Study: Smart City Data Analytics  |  Thank You!</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862</Words>
  <Application>Microsoft Office PowerPoint</Application>
  <PresentationFormat>On-screen Show (16:9)</PresentationFormat>
  <Paragraphs>178</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Arial Black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City Data Analytics</dc:title>
  <dc:subject>PptxGenJS Presentation</dc:subject>
  <dc:creator>Group 19</dc:creator>
  <cp:lastModifiedBy>Hea Kapai</cp:lastModifiedBy>
  <cp:revision>2</cp:revision>
  <dcterms:created xsi:type="dcterms:W3CDTF">2026-03-28T11:46:06Z</dcterms:created>
  <dcterms:modified xsi:type="dcterms:W3CDTF">2026-03-28T12:05:46Z</dcterms:modified>
</cp:coreProperties>
</file>